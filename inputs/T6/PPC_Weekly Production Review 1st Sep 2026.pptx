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charts/chart2.xml" ContentType="application/vnd.openxmlformats-officedocument.drawingml.chart+xml"/>
  <Override PartName="/ppt/slides/slide8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docProps/core.xml" ContentType="application/vnd.openxmlformats-package.core-properties+xml"/>
  <Override PartName="/ppt/charts/colors1.xml" ContentType="application/vnd.ms-office.chartcolorstyle+xml"/>
  <Override PartName="/docMetadata/LabelInfo.xml" ContentType="application/vnd.ms-office.classificationlabels+xml"/>
  <Override PartName="/ppt/drawings/drawing1.xml" ContentType="application/vnd.openxmlformats-officedocument.drawingml.chartshapes+xml"/>
  <Override PartName="/ppt/slides/slide21.xml" ContentType="application/vnd.openxmlformats-officedocument.presentationml.slide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charts/style1.xml" ContentType="application/vnd.ms-office.chartstyl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tableStyles.xml" ContentType="application/vnd.openxmlformats-officedocument.presentationml.tableStyles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21.xml" ContentType="application/vnd.openxmlformats-officedocument.presentationml.slideLayout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theme/themeOverride1.xml" ContentType="application/vnd.openxmlformats-officedocument.themeOverr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5.xml" ContentType="application/vnd.openxmlformats-officedocument.presentationml.sl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22.xml" ContentType="application/vnd.openxmlformats-officedocument.presentationml.slideLayout+xml"/>
  <Override PartName="/ppt/slides/slide3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notesMasterIdLst>
    <p:notesMasterId r:id="rId37"/>
  </p:notesMasterIdLst>
  <p:sldIdLst>
    <p:sldId id="268" r:id="rId2"/>
    <p:sldId id="2147482142" r:id="rId3"/>
    <p:sldId id="2147482143" r:id="rId4"/>
    <p:sldId id="2147482146" r:id="rId5"/>
    <p:sldId id="291" r:id="rId6"/>
    <p:sldId id="294" r:id="rId7"/>
    <p:sldId id="269" r:id="rId8"/>
    <p:sldId id="270" r:id="rId9"/>
    <p:sldId id="273" r:id="rId10"/>
    <p:sldId id="264" r:id="rId11"/>
    <p:sldId id="258" r:id="rId12"/>
    <p:sldId id="2147483614" r:id="rId13"/>
    <p:sldId id="257" r:id="rId14"/>
    <p:sldId id="262" r:id="rId15"/>
    <p:sldId id="288" r:id="rId16"/>
    <p:sldId id="271" r:id="rId17"/>
    <p:sldId id="2147483624" r:id="rId18"/>
    <p:sldId id="259" r:id="rId19"/>
    <p:sldId id="261" r:id="rId20"/>
    <p:sldId id="267" r:id="rId21"/>
    <p:sldId id="2147483647" r:id="rId22"/>
    <p:sldId id="2147483623" r:id="rId23"/>
    <p:sldId id="2147483625" r:id="rId24"/>
    <p:sldId id="276" r:id="rId25"/>
    <p:sldId id="263" r:id="rId26"/>
    <p:sldId id="2147483626" r:id="rId27"/>
    <p:sldId id="296" r:id="rId28"/>
    <p:sldId id="2147479955" r:id="rId29"/>
    <p:sldId id="260" r:id="rId30"/>
    <p:sldId id="297" r:id="rId31"/>
    <p:sldId id="298" r:id="rId32"/>
    <p:sldId id="272" r:id="rId33"/>
    <p:sldId id="256" r:id="rId34"/>
    <p:sldId id="279" r:id="rId35"/>
    <p:sldId id="2147483606" r:id="rId36"/>
  </p:sldIdLst>
  <p:sldSz cx="12192000" cy="6858000"/>
  <p:notesSz cx="68580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0000FF"/>
    <a:srgbClr val="E8E8E8"/>
    <a:srgbClr val="66FF99"/>
    <a:srgbClr val="83E28E"/>
    <a:srgbClr val="002060"/>
    <a:srgbClr val="5A9F41"/>
    <a:srgbClr val="E2EFDA"/>
    <a:srgbClr val="549D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ECE5A-E49C-499C-AE94-2B531909F1E1}" v="3" dt="2026-09-07T05:02:00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76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sh Manoharrao Wankhade" userId="13b6db44-eb9a-463c-9c79-a9efcf27996b" providerId="ADAL" clId="{47575866-0F7D-4F6D-A31B-DC1535462AA8}"/>
    <pc:docChg chg="custSel addSld delSld modSld sldOrd">
      <pc:chgData name="Ashish Manoharrao Wankhade" userId="13b6db44-eb9a-463c-9c79-a9efcf27996b" providerId="ADAL" clId="{47575866-0F7D-4F6D-A31B-DC1535462AA8}" dt="2026-09-07T05:02:00.072" v="35"/>
      <pc:docMkLst>
        <pc:docMk/>
      </pc:docMkLst>
      <pc:sldChg chg="modSp mod">
        <pc:chgData name="Ashish Manoharrao Wankhade" userId="13b6db44-eb9a-463c-9c79-a9efcf27996b" providerId="ADAL" clId="{47575866-0F7D-4F6D-A31B-DC1535462AA8}" dt="2026-09-01T02:26:55.721" v="7" actId="6549"/>
        <pc:sldMkLst>
          <pc:docMk/>
          <pc:sldMk cId="1156595085" sldId="257"/>
        </pc:sldMkLst>
        <pc:spChg chg="mod">
          <ac:chgData name="Ashish Manoharrao Wankhade" userId="13b6db44-eb9a-463c-9c79-a9efcf27996b" providerId="ADAL" clId="{47575866-0F7D-4F6D-A31B-DC1535462AA8}" dt="2026-09-01T02:26:55.721" v="7" actId="6549"/>
          <ac:spMkLst>
            <pc:docMk/>
            <pc:sldMk cId="1156595085" sldId="257"/>
            <ac:spMk id="11" creationId="{651309ED-3773-A304-9C24-59A4424B3A94}"/>
          </ac:spMkLst>
        </pc:spChg>
      </pc:sldChg>
      <pc:sldChg chg="ord">
        <pc:chgData name="Ashish Manoharrao Wankhade" userId="13b6db44-eb9a-463c-9c79-a9efcf27996b" providerId="ADAL" clId="{47575866-0F7D-4F6D-A31B-DC1535462AA8}" dt="2026-09-01T02:29:16.405" v="16"/>
        <pc:sldMkLst>
          <pc:docMk/>
          <pc:sldMk cId="2623900390" sldId="259"/>
        </pc:sldMkLst>
      </pc:sldChg>
      <pc:sldChg chg="modSp mod">
        <pc:chgData name="Ashish Manoharrao Wankhade" userId="13b6db44-eb9a-463c-9c79-a9efcf27996b" providerId="ADAL" clId="{47575866-0F7D-4F6D-A31B-DC1535462AA8}" dt="2026-09-01T02:27:34.751" v="12" actId="20577"/>
        <pc:sldMkLst>
          <pc:docMk/>
          <pc:sldMk cId="268591934" sldId="262"/>
        </pc:sldMkLst>
        <pc:graphicFrameChg chg="modGraphic">
          <ac:chgData name="Ashish Manoharrao Wankhade" userId="13b6db44-eb9a-463c-9c79-a9efcf27996b" providerId="ADAL" clId="{47575866-0F7D-4F6D-A31B-DC1535462AA8}" dt="2026-09-01T02:27:34.751" v="12" actId="20577"/>
          <ac:graphicFrameMkLst>
            <pc:docMk/>
            <pc:sldMk cId="268591934" sldId="262"/>
            <ac:graphicFrameMk id="5" creationId="{F8FD332A-31F5-ABC7-3CB3-FA861ED11515}"/>
          </ac:graphicFrameMkLst>
        </pc:graphicFrameChg>
      </pc:sldChg>
      <pc:sldChg chg="add">
        <pc:chgData name="Ashish Manoharrao Wankhade" userId="13b6db44-eb9a-463c-9c79-a9efcf27996b" providerId="ADAL" clId="{47575866-0F7D-4F6D-A31B-DC1535462AA8}" dt="2026-09-01T02:31:21.020" v="21"/>
        <pc:sldMkLst>
          <pc:docMk/>
          <pc:sldMk cId="4244271236" sldId="264"/>
        </pc:sldMkLst>
      </pc:sldChg>
      <pc:sldChg chg="ord">
        <pc:chgData name="Ashish Manoharrao Wankhade" userId="13b6db44-eb9a-463c-9c79-a9efcf27996b" providerId="ADAL" clId="{47575866-0F7D-4F6D-A31B-DC1535462AA8}" dt="2026-09-01T02:29:34.663" v="20"/>
        <pc:sldMkLst>
          <pc:docMk/>
          <pc:sldMk cId="110952738" sldId="288"/>
        </pc:sldMkLst>
      </pc:sldChg>
      <pc:sldChg chg="modSp add mod">
        <pc:chgData name="Ashish Manoharrao Wankhade" userId="13b6db44-eb9a-463c-9c79-a9efcf27996b" providerId="ADAL" clId="{47575866-0F7D-4F6D-A31B-DC1535462AA8}" dt="2026-09-01T02:54:24.748" v="24" actId="27636"/>
        <pc:sldMkLst>
          <pc:docMk/>
          <pc:sldMk cId="3719097017" sldId="297"/>
        </pc:sldMkLst>
        <pc:spChg chg="mod">
          <ac:chgData name="Ashish Manoharrao Wankhade" userId="13b6db44-eb9a-463c-9c79-a9efcf27996b" providerId="ADAL" clId="{47575866-0F7D-4F6D-A31B-DC1535462AA8}" dt="2026-09-01T02:54:24.748" v="24" actId="27636"/>
          <ac:spMkLst>
            <pc:docMk/>
            <pc:sldMk cId="3719097017" sldId="297"/>
            <ac:spMk id="4" creationId="{B73C555A-546E-0DEA-6BD2-93A0E94F1DF9}"/>
          </ac:spMkLst>
        </pc:spChg>
      </pc:sldChg>
      <pc:sldChg chg="modSp add mod">
        <pc:chgData name="Ashish Manoharrao Wankhade" userId="13b6db44-eb9a-463c-9c79-a9efcf27996b" providerId="ADAL" clId="{47575866-0F7D-4F6D-A31B-DC1535462AA8}" dt="2026-09-01T02:54:24.786" v="25" actId="27636"/>
        <pc:sldMkLst>
          <pc:docMk/>
          <pc:sldMk cId="4093920399" sldId="298"/>
        </pc:sldMkLst>
        <pc:spChg chg="mod">
          <ac:chgData name="Ashish Manoharrao Wankhade" userId="13b6db44-eb9a-463c-9c79-a9efcf27996b" providerId="ADAL" clId="{47575866-0F7D-4F6D-A31B-DC1535462AA8}" dt="2026-09-01T02:54:24.786" v="25" actId="27636"/>
          <ac:spMkLst>
            <pc:docMk/>
            <pc:sldMk cId="4093920399" sldId="298"/>
            <ac:spMk id="4" creationId="{F5FA75F2-B7F8-DD4C-D141-83C752AD59D7}"/>
          </ac:spMkLst>
        </pc:spChg>
      </pc:sldChg>
      <pc:sldChg chg="addSp modSp mod ord">
        <pc:chgData name="Ashish Manoharrao Wankhade" userId="13b6db44-eb9a-463c-9c79-a9efcf27996b" providerId="ADAL" clId="{47575866-0F7D-4F6D-A31B-DC1535462AA8}" dt="2026-09-07T05:02:00.072" v="35"/>
        <pc:sldMkLst>
          <pc:docMk/>
          <pc:sldMk cId="2779038916" sldId="2147483624"/>
        </pc:sldMkLst>
        <pc:spChg chg="add mod">
          <ac:chgData name="Ashish Manoharrao Wankhade" userId="13b6db44-eb9a-463c-9c79-a9efcf27996b" providerId="ADAL" clId="{47575866-0F7D-4F6D-A31B-DC1535462AA8}" dt="2026-09-07T05:02:00.072" v="35"/>
          <ac:spMkLst>
            <pc:docMk/>
            <pc:sldMk cId="2779038916" sldId="2147483624"/>
            <ac:spMk id="5" creationId="{999C99BA-CEDD-C685-EEE4-70A2FB541FAC}"/>
          </ac:spMkLst>
        </pc:spChg>
        <pc:graphicFrameChg chg="modGraphic">
          <ac:chgData name="Ashish Manoharrao Wankhade" userId="13b6db44-eb9a-463c-9c79-a9efcf27996b" providerId="ADAL" clId="{47575866-0F7D-4F6D-A31B-DC1535462AA8}" dt="2026-09-01T03:50:58.901" v="33" actId="20577"/>
          <ac:graphicFrameMkLst>
            <pc:docMk/>
            <pc:sldMk cId="2779038916" sldId="2147483624"/>
            <ac:graphicFrameMk id="2" creationId="{6B37595B-3E91-2B1E-FA38-1360AB7B7C3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empfps\MPP\Santosh%20Pawar\Monthly%20Graph%20Data\Graph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empfps\MPP\Santosh%20Pawar\Monthly%20Graph%20Data\Graph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baseline="0">
                <a:effectLst/>
              </a:rPr>
              <a:t>Rollout</a:t>
            </a:r>
            <a:endParaRPr lang="en-US">
              <a:effectLst/>
            </a:endParaRPr>
          </a:p>
        </c:rich>
      </c:tx>
      <c:layout>
        <c:manualLayout>
          <c:xMode val="edge"/>
          <c:yMode val="edge"/>
          <c:x val="0.43381452318460195"/>
          <c:y val="1.984126984126984E-2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5.3651469936120931E-3"/>
          <c:y val="7.342936299629213E-2"/>
          <c:w val="0.98845144356955383"/>
          <c:h val="0.7215801149856268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'FY''27'!$O$4</c:f>
              <c:strCache>
                <c:ptCount val="1"/>
                <c:pt idx="0">
                  <c:v>Rollout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'FY''27'!$M$5:$M$16</c:f>
              <c:numCache>
                <c:formatCode>mmm\-yy</c:formatCode>
                <c:ptCount val="12"/>
                <c:pt idx="0">
                  <c:v>46113</c:v>
                </c:pt>
                <c:pt idx="1">
                  <c:v>46143</c:v>
                </c:pt>
                <c:pt idx="2">
                  <c:v>46174</c:v>
                </c:pt>
                <c:pt idx="3">
                  <c:v>46204</c:v>
                </c:pt>
                <c:pt idx="4">
                  <c:v>46235</c:v>
                </c:pt>
                <c:pt idx="5">
                  <c:v>46266</c:v>
                </c:pt>
                <c:pt idx="6">
                  <c:v>46296</c:v>
                </c:pt>
                <c:pt idx="7">
                  <c:v>46327</c:v>
                </c:pt>
                <c:pt idx="8">
                  <c:v>46357</c:v>
                </c:pt>
                <c:pt idx="9">
                  <c:v>46388</c:v>
                </c:pt>
                <c:pt idx="10">
                  <c:v>46419</c:v>
                </c:pt>
                <c:pt idx="11">
                  <c:v>46447</c:v>
                </c:pt>
              </c:numCache>
            </c:numRef>
          </c:cat>
          <c:val>
            <c:numRef>
              <c:f>'FY''27'!$O$5:$O$16</c:f>
              <c:numCache>
                <c:formatCode>General</c:formatCode>
                <c:ptCount val="12"/>
                <c:pt idx="0">
                  <c:v>8254</c:v>
                </c:pt>
                <c:pt idx="1">
                  <c:v>8631</c:v>
                </c:pt>
                <c:pt idx="2">
                  <c:v>8722</c:v>
                </c:pt>
                <c:pt idx="3">
                  <c:v>10033</c:v>
                </c:pt>
                <c:pt idx="4">
                  <c:v>8458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EF-4B79-8935-B1BE6B0B51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902093136"/>
        <c:axId val="902094768"/>
      </c:barChart>
      <c:lineChart>
        <c:grouping val="standard"/>
        <c:varyColors val="0"/>
        <c:ser>
          <c:idx val="0"/>
          <c:order val="0"/>
          <c:tx>
            <c:strRef>
              <c:f>'FY''27'!$N$4</c:f>
              <c:strCache>
                <c:ptCount val="1"/>
                <c:pt idx="0">
                  <c:v>BP</c:v>
                </c:pt>
              </c:strCache>
            </c:strRef>
          </c:tx>
          <c:spPr>
            <a:ln w="25400">
              <a:solidFill>
                <a:srgbClr val="002060"/>
              </a:solidFill>
              <a:prstDash val="sysDash"/>
            </a:ln>
          </c:spPr>
          <c:marker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</c:spPr>
          </c:marker>
          <c:dLbls>
            <c:spPr>
              <a:solidFill>
                <a:srgbClr val="002060"/>
              </a:solidFill>
            </c:spPr>
            <c:txPr>
              <a:bodyPr/>
              <a:lstStyle/>
              <a:p>
                <a:pPr>
                  <a:defRPr sz="105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'FY''27'!$M$5:$M$16</c:f>
              <c:numCache>
                <c:formatCode>mmm\-yy</c:formatCode>
                <c:ptCount val="12"/>
                <c:pt idx="0">
                  <c:v>46113</c:v>
                </c:pt>
                <c:pt idx="1">
                  <c:v>46143</c:v>
                </c:pt>
                <c:pt idx="2">
                  <c:v>46174</c:v>
                </c:pt>
                <c:pt idx="3">
                  <c:v>46204</c:v>
                </c:pt>
                <c:pt idx="4">
                  <c:v>46235</c:v>
                </c:pt>
                <c:pt idx="5">
                  <c:v>46266</c:v>
                </c:pt>
                <c:pt idx="6">
                  <c:v>46296</c:v>
                </c:pt>
                <c:pt idx="7">
                  <c:v>46327</c:v>
                </c:pt>
                <c:pt idx="8">
                  <c:v>46357</c:v>
                </c:pt>
                <c:pt idx="9">
                  <c:v>46388</c:v>
                </c:pt>
                <c:pt idx="10">
                  <c:v>46419</c:v>
                </c:pt>
                <c:pt idx="11">
                  <c:v>46447</c:v>
                </c:pt>
              </c:numCache>
            </c:numRef>
          </c:cat>
          <c:val>
            <c:numRef>
              <c:f>'FY''27'!$N$5:$N$16</c:f>
              <c:numCache>
                <c:formatCode>0</c:formatCode>
                <c:ptCount val="12"/>
                <c:pt idx="0">
                  <c:v>7884</c:v>
                </c:pt>
                <c:pt idx="1">
                  <c:v>8419</c:v>
                </c:pt>
                <c:pt idx="2">
                  <c:v>8749</c:v>
                </c:pt>
                <c:pt idx="3">
                  <c:v>8815</c:v>
                </c:pt>
                <c:pt idx="4">
                  <c:v>8389</c:v>
                </c:pt>
                <c:pt idx="5">
                  <c:v>8681</c:v>
                </c:pt>
                <c:pt idx="6">
                  <c:v>9245</c:v>
                </c:pt>
                <c:pt idx="7">
                  <c:v>8865</c:v>
                </c:pt>
                <c:pt idx="8">
                  <c:v>9919</c:v>
                </c:pt>
                <c:pt idx="9">
                  <c:v>10779</c:v>
                </c:pt>
                <c:pt idx="10">
                  <c:v>10892</c:v>
                </c:pt>
                <c:pt idx="11">
                  <c:v>12333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0EF-4B79-8935-B1BE6B0B51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2093136"/>
        <c:axId val="902094768"/>
      </c:lineChart>
      <c:dateAx>
        <c:axId val="90209313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800"/>
            </a:pPr>
            <a:endParaRPr lang="en-US"/>
          </a:p>
        </c:txPr>
        <c:crossAx val="902094768"/>
        <c:crosses val="autoZero"/>
        <c:auto val="1"/>
        <c:lblOffset val="100"/>
        <c:baseTimeUnit val="months"/>
      </c:dateAx>
      <c:valAx>
        <c:axId val="90209476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020931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6127228414629992"/>
          <c:y val="0.88040401199850005"/>
          <c:w val="0.27745526127415893"/>
          <c:h val="0.11959598800149981"/>
        </c:manualLayout>
      </c:layout>
      <c:overlay val="0"/>
    </c:legend>
    <c:plotVisOnly val="1"/>
    <c:dispBlanksAs val="gap"/>
    <c:showDLblsOverMax val="0"/>
  </c:chart>
  <c:spPr>
    <a:ln>
      <a:solidFill>
        <a:schemeClr val="accent1"/>
      </a:solidFill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baseline="0">
                <a:effectLst/>
              </a:rPr>
              <a:t>Sales</a:t>
            </a:r>
            <a:endParaRPr lang="en-US">
              <a:effectLst/>
            </a:endParaRPr>
          </a:p>
        </c:rich>
      </c:tx>
      <c:layout>
        <c:manualLayout>
          <c:xMode val="edge"/>
          <c:yMode val="edge"/>
          <c:x val="0.43381452318460195"/>
          <c:y val="1.984126984126984E-2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5.3651469936120931E-3"/>
          <c:y val="7.342936299629213E-2"/>
          <c:w val="0.98845144356955383"/>
          <c:h val="0.7215801149856268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'FY''27'!$W$4</c:f>
              <c:strCache>
                <c:ptCount val="1"/>
                <c:pt idx="0">
                  <c:v>Sale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'FY''27'!$U$5:$U$16</c:f>
              <c:numCache>
                <c:formatCode>mmm\-yy</c:formatCode>
                <c:ptCount val="12"/>
                <c:pt idx="0">
                  <c:v>46113</c:v>
                </c:pt>
                <c:pt idx="1">
                  <c:v>46143</c:v>
                </c:pt>
                <c:pt idx="2">
                  <c:v>46174</c:v>
                </c:pt>
                <c:pt idx="3">
                  <c:v>46204</c:v>
                </c:pt>
                <c:pt idx="4">
                  <c:v>46235</c:v>
                </c:pt>
                <c:pt idx="5">
                  <c:v>46266</c:v>
                </c:pt>
                <c:pt idx="6">
                  <c:v>46296</c:v>
                </c:pt>
                <c:pt idx="7">
                  <c:v>46327</c:v>
                </c:pt>
                <c:pt idx="8">
                  <c:v>46357</c:v>
                </c:pt>
                <c:pt idx="9">
                  <c:v>46388</c:v>
                </c:pt>
                <c:pt idx="10">
                  <c:v>46419</c:v>
                </c:pt>
                <c:pt idx="11">
                  <c:v>46447</c:v>
                </c:pt>
              </c:numCache>
            </c:numRef>
          </c:cat>
          <c:val>
            <c:numRef>
              <c:f>'FY''27'!$W$5:$W$16</c:f>
              <c:numCache>
                <c:formatCode>General</c:formatCode>
                <c:ptCount val="12"/>
                <c:pt idx="0">
                  <c:v>7159</c:v>
                </c:pt>
                <c:pt idx="1">
                  <c:v>7789</c:v>
                </c:pt>
                <c:pt idx="2">
                  <c:v>9269</c:v>
                </c:pt>
                <c:pt idx="3">
                  <c:v>8045</c:v>
                </c:pt>
                <c:pt idx="4">
                  <c:v>8162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2B-4C9D-A74A-F6438BF29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652043872"/>
        <c:axId val="1652045504"/>
      </c:barChart>
      <c:lineChart>
        <c:grouping val="standard"/>
        <c:varyColors val="0"/>
        <c:ser>
          <c:idx val="0"/>
          <c:order val="0"/>
          <c:tx>
            <c:strRef>
              <c:f>'FY''27'!$V$4</c:f>
              <c:strCache>
                <c:ptCount val="1"/>
                <c:pt idx="0">
                  <c:v>BP</c:v>
                </c:pt>
              </c:strCache>
            </c:strRef>
          </c:tx>
          <c:spPr>
            <a:ln w="25400">
              <a:solidFill>
                <a:srgbClr val="002060"/>
              </a:solidFill>
              <a:prstDash val="sysDash"/>
            </a:ln>
          </c:spPr>
          <c:marker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</c:spPr>
          </c:marker>
          <c:dLbls>
            <c:spPr>
              <a:solidFill>
                <a:srgbClr val="002060"/>
              </a:solidFill>
            </c:spPr>
            <c:txPr>
              <a:bodyPr/>
              <a:lstStyle/>
              <a:p>
                <a:pPr>
                  <a:defRPr sz="105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'FY''27'!$U$5:$U$16</c:f>
              <c:numCache>
                <c:formatCode>mmm\-yy</c:formatCode>
                <c:ptCount val="12"/>
                <c:pt idx="0">
                  <c:v>46113</c:v>
                </c:pt>
                <c:pt idx="1">
                  <c:v>46143</c:v>
                </c:pt>
                <c:pt idx="2">
                  <c:v>46174</c:v>
                </c:pt>
                <c:pt idx="3">
                  <c:v>46204</c:v>
                </c:pt>
                <c:pt idx="4">
                  <c:v>46235</c:v>
                </c:pt>
                <c:pt idx="5">
                  <c:v>46266</c:v>
                </c:pt>
                <c:pt idx="6">
                  <c:v>46296</c:v>
                </c:pt>
                <c:pt idx="7">
                  <c:v>46327</c:v>
                </c:pt>
                <c:pt idx="8">
                  <c:v>46357</c:v>
                </c:pt>
                <c:pt idx="9">
                  <c:v>46388</c:v>
                </c:pt>
                <c:pt idx="10">
                  <c:v>46419</c:v>
                </c:pt>
                <c:pt idx="11">
                  <c:v>46447</c:v>
                </c:pt>
              </c:numCache>
            </c:numRef>
          </c:cat>
          <c:val>
            <c:numRef>
              <c:f>'FY''27'!$V$5:$V$16</c:f>
              <c:numCache>
                <c:formatCode>0</c:formatCode>
                <c:ptCount val="12"/>
                <c:pt idx="0">
                  <c:v>7884</c:v>
                </c:pt>
                <c:pt idx="1">
                  <c:v>8419</c:v>
                </c:pt>
                <c:pt idx="2">
                  <c:v>8749</c:v>
                </c:pt>
                <c:pt idx="3">
                  <c:v>8815</c:v>
                </c:pt>
                <c:pt idx="4">
                  <c:v>8389</c:v>
                </c:pt>
                <c:pt idx="5">
                  <c:v>8681</c:v>
                </c:pt>
                <c:pt idx="6">
                  <c:v>9245</c:v>
                </c:pt>
                <c:pt idx="7">
                  <c:v>8865</c:v>
                </c:pt>
                <c:pt idx="8">
                  <c:v>9919</c:v>
                </c:pt>
                <c:pt idx="9">
                  <c:v>10779</c:v>
                </c:pt>
                <c:pt idx="10">
                  <c:v>10892</c:v>
                </c:pt>
                <c:pt idx="11">
                  <c:v>12333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22B-4C9D-A74A-F6438BF29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2043872"/>
        <c:axId val="1652045504"/>
      </c:lineChart>
      <c:dateAx>
        <c:axId val="165204387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800"/>
            </a:pPr>
            <a:endParaRPr lang="en-US"/>
          </a:p>
        </c:txPr>
        <c:crossAx val="1652045504"/>
        <c:crosses val="autoZero"/>
        <c:auto val="1"/>
        <c:lblOffset val="100"/>
        <c:baseTimeUnit val="months"/>
      </c:dateAx>
      <c:valAx>
        <c:axId val="16520455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65204387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6127228414629992"/>
          <c:y val="0.88040401199850005"/>
          <c:w val="0.27745526127415893"/>
          <c:h val="0.11959598800149981"/>
        </c:manualLayout>
      </c:layout>
      <c:overlay val="0"/>
    </c:legend>
    <c:plotVisOnly val="1"/>
    <c:dispBlanksAs val="gap"/>
    <c:showDLblsOverMax val="0"/>
  </c:chart>
  <c:spPr>
    <a:ln>
      <a:solidFill>
        <a:schemeClr val="accent1"/>
      </a:solidFill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Rollout Rate/Day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575365045741408E-2"/>
          <c:y val="0.24594310332762181"/>
          <c:w val="0.91301036407836511"/>
          <c:h val="0.57985786571309983"/>
        </c:manualLayout>
      </c:layout>
      <c:lineChart>
        <c:grouping val="stacked"/>
        <c:varyColors val="0"/>
        <c:ser>
          <c:idx val="0"/>
          <c:order val="0"/>
          <c:tx>
            <c:strRef>
              <c:f>Sheet8!$E$2</c:f>
              <c:strCache>
                <c:ptCount val="1"/>
                <c:pt idx="0">
                  <c:v>Rate/Day</c:v>
                </c:pt>
              </c:strCache>
            </c:strRef>
          </c:tx>
          <c:spPr>
            <a:ln w="15875" cap="rnd">
              <a:solidFill>
                <a:srgbClr val="002060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rgbClr val="002060"/>
              </a:solidFill>
              <a:ln w="9525">
                <a:solidFill>
                  <a:srgbClr val="002060"/>
                </a:solidFill>
              </a:ln>
              <a:effectLst/>
            </c:spPr>
          </c:marker>
          <c:dPt>
            <c:idx val="8"/>
            <c:marker>
              <c:symbol val="diamond"/>
              <c:size val="8"/>
              <c:spPr>
                <a:solidFill>
                  <a:srgbClr val="FF0000"/>
                </a:solidFill>
                <a:ln w="9525">
                  <a:solidFill>
                    <a:srgbClr val="FF0000"/>
                  </a:solidFill>
                </a:ln>
                <a:effectLst/>
              </c:spPr>
            </c:marker>
            <c:bubble3D val="0"/>
            <c:spPr>
              <a:ln w="15875" cap="rnd">
                <a:solidFill>
                  <a:srgbClr val="FF000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F1-4AFB-89CC-5AC83FADC6E3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FF0000"/>
                </a:solidFill>
                <a:ln w="9525">
                  <a:solidFill>
                    <a:srgbClr val="FF0000"/>
                  </a:solidFill>
                  <a:prstDash val="dash"/>
                </a:ln>
                <a:effectLst/>
              </c:spPr>
            </c:marker>
            <c:bubble3D val="0"/>
            <c:spPr>
              <a:ln w="15875" cap="rnd">
                <a:solidFill>
                  <a:srgbClr val="FF0000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399-4E4C-92EF-E90CF72AD425}"/>
              </c:ext>
            </c:extLst>
          </c:dPt>
          <c:dLbls>
            <c:dLbl>
              <c:idx val="8"/>
              <c:spPr>
                <a:solidFill>
                  <a:srgbClr val="FF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7F1-4AFB-89CC-5AC83FADC6E3}"/>
                </c:ext>
              </c:extLst>
            </c:dLbl>
            <c:dLbl>
              <c:idx val="9"/>
              <c:spPr>
                <a:solidFill>
                  <a:srgbClr val="FF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399-4E4C-92EF-E90CF72AD425}"/>
                </c:ext>
              </c:extLst>
            </c:dLbl>
            <c:spPr>
              <a:solidFill>
                <a:srgbClr val="00206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Sheet8!$C$3:$D$12</c:f>
              <c:multiLvlStrCache>
                <c:ptCount val="10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Required</c:v>
                  </c:pt>
                </c:lvl>
                <c:lvl>
                  <c:pt idx="0">
                    <c:v>Dec-25</c:v>
                  </c:pt>
                  <c:pt idx="1">
                    <c:v>Jan-26</c:v>
                  </c:pt>
                  <c:pt idx="2">
                    <c:v>Feb-26</c:v>
                  </c:pt>
                  <c:pt idx="3">
                    <c:v>Mar-26</c:v>
                  </c:pt>
                  <c:pt idx="4">
                    <c:v>Apr-26</c:v>
                  </c:pt>
                  <c:pt idx="5">
                    <c:v>May-26</c:v>
                  </c:pt>
                  <c:pt idx="6">
                    <c:v>Jun-26</c:v>
                  </c:pt>
                  <c:pt idx="7">
                    <c:v>Jul-26</c:v>
                  </c:pt>
                  <c:pt idx="8">
                    <c:v>Aug-26</c:v>
                  </c:pt>
                  <c:pt idx="9">
                    <c:v>Sep-26</c:v>
                  </c:pt>
                </c:lvl>
              </c:multiLvlStrCache>
            </c:multiLvlStrRef>
          </c:cat>
          <c:val>
            <c:numRef>
              <c:f>Sheet8!$E$3:$E$12</c:f>
              <c:numCache>
                <c:formatCode>General</c:formatCode>
                <c:ptCount val="10"/>
                <c:pt idx="0">
                  <c:v>378</c:v>
                </c:pt>
                <c:pt idx="1">
                  <c:v>411</c:v>
                </c:pt>
                <c:pt idx="2" formatCode="0">
                  <c:v>418</c:v>
                </c:pt>
                <c:pt idx="3" formatCode="0">
                  <c:v>400</c:v>
                </c:pt>
                <c:pt idx="4" formatCode="0">
                  <c:v>354</c:v>
                </c:pt>
                <c:pt idx="5" formatCode="0">
                  <c:v>318</c:v>
                </c:pt>
                <c:pt idx="6" formatCode="0">
                  <c:v>320</c:v>
                </c:pt>
                <c:pt idx="7" formatCode="0">
                  <c:v>348</c:v>
                </c:pt>
                <c:pt idx="8" formatCode="0">
                  <c:v>325</c:v>
                </c:pt>
                <c:pt idx="9" formatCode="0">
                  <c:v>400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07F1-4AFB-89CC-5AC83FADC6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08924016"/>
        <c:axId val="1408925456"/>
      </c:lineChart>
      <c:catAx>
        <c:axId val="1408924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8925456"/>
        <c:crosses val="autoZero"/>
        <c:auto val="1"/>
        <c:lblAlgn val="ctr"/>
        <c:lblOffset val="100"/>
        <c:noMultiLvlLbl val="1"/>
      </c:catAx>
      <c:valAx>
        <c:axId val="1408925456"/>
        <c:scaling>
          <c:orientation val="minMax"/>
          <c:min val="25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8924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 b="0"/>
      </a:pPr>
      <a:endParaRPr lang="en-US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0.86095</cdr:x>
      <cdr:y>0</cdr:y>
    </cdr:from>
    <cdr:to>
      <cdr:x>1</cdr:x>
      <cdr:y>0.17912</cdr:y>
    </cdr:to>
    <cdr:sp macro="" textlink="">
      <cdr:nvSpPr>
        <cdr:cNvPr id="2" name="Speech Bubble: Oval 1">
          <a:extLst xmlns:a="http://schemas.openxmlformats.org/drawingml/2006/main">
            <a:ext uri="{FF2B5EF4-FFF2-40B4-BE49-F238E27FC236}">
              <a16:creationId xmlns:a16="http://schemas.microsoft.com/office/drawing/2014/main" id="{E9398EE2-9CE2-258A-5B92-91AD6C8A0DB8}"/>
            </a:ext>
          </a:extLst>
        </cdr:cNvPr>
        <cdr:cNvSpPr/>
      </cdr:nvSpPr>
      <cdr:spPr>
        <a:xfrm xmlns:a="http://schemas.openxmlformats.org/drawingml/2006/main">
          <a:off x="5891697" y="0"/>
          <a:ext cx="951555" cy="517042"/>
        </a:xfrm>
        <a:prstGeom xmlns:a="http://schemas.openxmlformats.org/drawingml/2006/main" prst="wedgeEllipseCallout">
          <a:avLst>
            <a:gd name="adj1" fmla="val 5141"/>
            <a:gd name="adj2" fmla="val 74375"/>
          </a:avLst>
        </a:prstGeom>
        <a:solidFill xmlns:a="http://schemas.openxmlformats.org/drawingml/2006/main">
          <a:srgbClr val="00206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ctr"/>
          <a:r>
            <a:rPr lang="en-US" sz="1600" b="1" kern="1200"/>
            <a:t>10000</a:t>
          </a:r>
          <a:endParaRPr lang="en-US" sz="1200" b="1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800" cy="4634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634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9A4E9-3D6B-4C15-85DE-0FAD6BD99773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1154113"/>
            <a:ext cx="5540375" cy="3116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444864"/>
            <a:ext cx="5486400" cy="363670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70"/>
            <a:ext cx="2971800" cy="4634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72670"/>
            <a:ext cx="2971800" cy="4634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07DD2-3EE6-4B45-8BA0-6E2BB7E3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41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07DD2-3EE6-4B45-8BA0-6E2BB7E3E1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83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4AF066-0075-4EB0-B65E-ADD94444398C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31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85D2C-1AA1-5F1A-0FCD-968B9141F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CFF27-77AB-372C-6A1E-6BFC1A440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9A9E0-601E-A5F3-49BF-CFA0E907D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53D15-4F02-9644-957B-FBD50DA10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4AF066-0075-4EB0-B65E-ADD94444398C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234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FEA1-6DF1-C123-4A88-6074C5AB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780B6-B8AB-9860-2D1B-81BFDB63E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EDFFC-1A4E-171C-BA0D-32F2EE2F5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D1F87-CF01-07FD-F6B3-857EB314B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88ACD4-7739-4482-B802-A542C7ACA7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7633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0AE143-CB7B-47F1-B82C-2B839A6EC2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31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03B1-69FB-A295-2F44-6F43348DD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E9946-135F-881B-0681-27F56D44E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09431-21DC-1D7E-58C3-9A3774036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63D11-C38E-EDE7-A22E-5704CE89B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186CD8-2B5F-47D2-B024-698315872481}" type="slidenum">
              <a:rPr kumimoji="0" lang="sv-SE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sv-SE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027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0C313-B4F9-D6FA-9CFD-80A785F7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15407-9C3D-8746-08AD-F22508052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C9F62-E68C-B07E-FEB4-9A57BB700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33131-FFEC-1355-9E4D-3A3640A08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DAFD5B-8F0A-4B46-9398-20E72513D7F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379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DAFD5B-8F0A-4B46-9398-20E72513D7F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385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A4046-1532-56FA-CAB6-9218A07FC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41CEE-FC89-2C08-2D40-41A5F2CF4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A89A6-56B8-E721-60A8-1958F24DE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5E839-F754-0BBD-0EF3-EC0998497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88ACD4-7739-4482-B802-A542C7ACA7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320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6BD19-A23D-065D-FD2F-90BDC02B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3AF89-F501-98A2-BFCF-39B23F22F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1B761-363B-FBF0-F1D9-E99D3C5B6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89CD5-340B-D6F7-B832-8BA75E875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5CE96-62C7-4F0A-9270-73CA58B882F4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626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9BFE4-5E94-78DF-66E3-C006758F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45782-4317-C9F4-25DA-DA9B398AB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14C92-E148-39CD-7F9D-0290857B7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7EA0E-F662-934B-2A02-573722FC3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5CE96-62C7-4F0A-9270-73CA58B882F4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650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83A2-9582-5547-E16B-F992152E5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1EC45-AB10-6A18-BE25-0F158A032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578EE-244F-7CEA-31AE-C782F131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7345D-CA16-3CEE-93E8-21E012AA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B0B77-BEE1-35A2-6015-FF4B8016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2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05E11-7E37-71C3-68CF-41076BA9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1F1E-5B4E-0C9D-3365-B28019DEB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EF12E-5D74-B519-1BF4-2154D6CE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F061E-7683-B0F3-C47A-7A25BD2EC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F7021-3964-5427-E3F7-36B021FFD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26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709E-8E90-B15F-1E86-A4FA0EB2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92320-F351-F795-1BD8-BFC80DF96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D6921-42E0-FAB7-795A-226EAB84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8244C-C1FF-B79A-AE6B-5A7D23B2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AE051-4263-7139-1260-B4C094759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6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C6CA-9CAA-4245-9A36-C3CFE8C5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9662B-756A-ABA4-9E14-E66EBED44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0866D-48A6-4138-8253-40989727B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564A4-321B-8B2D-F074-9A201E150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A6D0A-8E2D-E45C-DEC3-515F0640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67A90-090F-5435-D2B3-76A77CEA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43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E3152-DDC0-CBFE-32D4-C594DA04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B32C7-C2CE-4026-FD0A-80521BFB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6137B-9A46-5C56-BCFB-663184EA5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69988-CFE3-689E-30CC-2B0B1CDF1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6698A-161E-F48C-E8EC-16D08A73D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19240-01A3-C5EC-48F2-DDE58E005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1587E-7901-883B-31A6-F3355B319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2CA6C-6F99-7533-BD6C-4A74D2BE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96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7319-6477-8570-22D7-915771A29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7630C-A4BF-715E-B876-113C4C84A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0E3DC-0543-1E1F-4506-C9DF4FD2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FEF3A-495B-E3D4-3E0A-14D25E13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97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A4932-C978-6EDC-081B-4E6E05A9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006B5-5F10-FB0B-83DD-CC233172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934A2-CE11-1F84-8566-C7FBBF85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5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CC25E-DF16-AE5F-5F59-B99956DD1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695D5-7D3D-63B7-1473-32C9ACD2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AAFF8-B715-7D6C-74F2-83F2FA137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178D9-2876-7AA0-2B13-5E00AEC0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DDA9C-E370-82FA-71F2-08EF8D4E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2675E-BD23-D6E7-65EF-D11585C7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4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50233-8A58-2038-563B-B105105B6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7DEA1-7479-E7F0-6963-F350AD203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3B9D1-4CC7-3EF9-E31D-F948A8977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BE20E-E30D-7E9B-6445-0728836A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FD59-0095-40F8-FB96-D479B948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20031-FE68-DA6E-863F-C73C5190D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33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5540-3248-BF05-865F-2AE275678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D32A2-7BAD-EEAF-6810-8AAB6FC5E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56A32-A152-DB22-7306-CC4C74CFF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8D99E-D35F-A7AB-67C5-9E757CD35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0EC2F-592F-F130-3163-3A7F68E6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3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CE12B-D56F-BD50-7488-0D0AB9C6A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D122E-89BD-3726-8CA8-99FBEF1ED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A9A72-52C7-0466-BABD-87D56F069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86D6B-CC41-F31C-D753-0169BAF36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B18D7-8B78-D51F-8ACF-9AA90C9D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95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662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6394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83933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16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0CD38BF8-DD93-4351-BC79-AC3228D951F8}" type="slidenum">
              <a:rPr lang="en-US" kern="120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pPr/>
              <a:t>‹#›</a:t>
            </a:fld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765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0CD38BF8-DD93-4351-BC79-AC3228D951F8}" type="slidenum">
              <a:rPr lang="en-US" kern="120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pPr/>
              <a:t>‹#›</a:t>
            </a:fld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052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371601"/>
            <a:ext cx="109728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0CD38BF8-DD93-4351-BC79-AC3228D951F8}" type="slidenum">
              <a:rPr lang="en-US" kern="120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pPr/>
              <a:t>‹#›</a:t>
            </a:fld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454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16000"/>
            <a:ext cx="10972800" cy="4965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400"/>
              </a:lnSpc>
              <a:buFontTx/>
              <a:buNone/>
              <a:defRPr sz="2600" b="1" i="0">
                <a:latin typeface="Calibri (Body)"/>
                <a:cs typeface="Calibri (Body)"/>
              </a:defRPr>
            </a:lvl1pPr>
            <a:lvl2pPr marL="0" indent="0">
              <a:spcBef>
                <a:spcPts val="652"/>
              </a:spcBef>
              <a:buFontTx/>
              <a:buNone/>
              <a:defRPr sz="2400"/>
            </a:lvl2pPr>
            <a:lvl3pPr marL="0" indent="-254000">
              <a:lnSpc>
                <a:spcPts val="2700"/>
              </a:lnSpc>
              <a:buClr>
                <a:schemeClr val="accent1"/>
              </a:buClr>
              <a:buSzPct val="90000"/>
              <a:buFont typeface="Wingdings" charset="2"/>
              <a:buChar char="§"/>
              <a:defRPr baseline="0"/>
            </a:lvl3pPr>
            <a:lvl4pPr marL="868680">
              <a:lnSpc>
                <a:spcPts val="2200"/>
              </a:lnSpc>
              <a:spcBef>
                <a:spcPts val="480"/>
              </a:spcBef>
              <a:buClr>
                <a:schemeClr val="bg2">
                  <a:lumMod val="75000"/>
                </a:schemeClr>
              </a:buClr>
              <a:buFont typeface="Wingdings" charset="2"/>
              <a:buChar char="§"/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 marL="1143000">
              <a:lnSpc>
                <a:spcPts val="2200"/>
              </a:lnSpc>
              <a:buClr>
                <a:schemeClr val="bg2">
                  <a:lumMod val="75000"/>
                </a:schemeClr>
              </a:buClr>
              <a:buFont typeface="Wingdings" charset="2"/>
              <a:buChar char="§"/>
              <a:defRPr>
                <a:solidFill>
                  <a:schemeClr val="bg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76201"/>
            <a:ext cx="10972800" cy="507999"/>
          </a:xfrm>
          <a:prstGeom prst="rect">
            <a:avLst/>
          </a:prstGeom>
        </p:spPr>
        <p:txBody>
          <a:bodyPr vert="horz" bIns="38100" anchor="b" anchorCtr="0"/>
          <a:lstStyle>
            <a:lvl1pPr algn="l">
              <a:defRPr sz="2800" b="1" i="0">
                <a:solidFill>
                  <a:srgbClr val="FFFFFE"/>
                </a:solidFill>
                <a:latin typeface="Calibri"/>
                <a:cs typeface="Calibri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0CD38BF8-DD93-4351-BC79-AC3228D951F8}" type="slidenum">
              <a:rPr lang="en-US" kern="120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pPr/>
              <a:t>‹#›</a:t>
            </a:fld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2983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0378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arallelogram 19"/>
          <p:cNvSpPr/>
          <p:nvPr userDrawn="1"/>
        </p:nvSpPr>
        <p:spPr>
          <a:xfrm>
            <a:off x="11651590" y="-17584"/>
            <a:ext cx="489703" cy="690831"/>
          </a:xfrm>
          <a:prstGeom prst="parallelogram">
            <a:avLst>
              <a:gd name="adj" fmla="val 3709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64" tIns="60932" rIns="121864" bIns="60932" rtlCol="0" anchor="ctr"/>
          <a:lstStyle/>
          <a:p>
            <a:pPr marL="0" marR="0" lvl="0" indent="0" algn="ctr" defTabSz="6092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24" name="Title 10"/>
          <p:cNvSpPr>
            <a:spLocks noGrp="1"/>
          </p:cNvSpPr>
          <p:nvPr>
            <p:ph type="title"/>
          </p:nvPr>
        </p:nvSpPr>
        <p:spPr>
          <a:xfrm>
            <a:off x="609600" y="76263"/>
            <a:ext cx="10972800" cy="507999"/>
          </a:xfrm>
          <a:prstGeom prst="rect">
            <a:avLst/>
          </a:prstGeom>
        </p:spPr>
        <p:txBody>
          <a:bodyPr vert="horz" lIns="91398" tIns="45699" rIns="91398" bIns="38079" anchor="b" anchorCtr="0"/>
          <a:lstStyle>
            <a:lvl1pPr algn="l">
              <a:defRPr sz="3733" b="1" i="0">
                <a:solidFill>
                  <a:srgbClr val="FFFFFE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83520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97740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.11 Content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CEC5F-5A41-204C-BA25-9D801C2D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 Nov 2025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7DD3D-672A-FE4F-ACE9-A06A058B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Operations| Production Planning update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6A3F2-3D9F-6741-A9EE-0BA30210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4E81-7505-490E-A92D-A659CDFDC9DD}" type="slidenum">
              <a:rPr lang="en-IN" smtClean="0"/>
              <a:t>‹#›</a:t>
            </a:fld>
            <a:endParaRPr lang="en-IN"/>
          </a:p>
        </p:txBody>
      </p:sp>
      <p:sp>
        <p:nvSpPr>
          <p:cNvPr id="6" name="Logotype">
            <a:extLst>
              <a:ext uri="{FF2B5EF4-FFF2-40B4-BE49-F238E27FC236}">
                <a16:creationId xmlns:a16="http://schemas.microsoft.com/office/drawing/2014/main" id="{E8E883F9-0359-4A3F-AE7F-095B5EBD021C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87927" y="6218305"/>
            <a:ext cx="1540800" cy="162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283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C81236-2E10-2F5A-8DB7-5EFBA634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2266C-8F77-2FBA-B47A-8A07AA26D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8D8B0-C673-5B2D-208B-AA869F64D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CD605-0FB6-4E18-8D3F-EC1C3B4FCFA9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AE655-842D-700C-70AC-3462F8D74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057EF-C918-D814-16BF-1F5FEA7B9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7789E-DEA3-4DF4-8B1E-92A7806B030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\\192.168.29.252\Tomail\_2023\Eicher\Events\Kick Off\Presentation Template\4.4.23\001.jpg">
            <a:extLst>
              <a:ext uri="{FF2B5EF4-FFF2-40B4-BE49-F238E27FC236}">
                <a16:creationId xmlns:a16="http://schemas.microsoft.com/office/drawing/2014/main" id="{37FFDFC5-D40F-E95C-552F-113FD4559B4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69" b="22164"/>
          <a:stretch>
            <a:fillRect/>
          </a:stretch>
        </p:blipFill>
        <p:spPr bwMode="auto">
          <a:xfrm>
            <a:off x="9144" y="6276893"/>
            <a:ext cx="12172013" cy="6085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0853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  <p:sldLayoutId id="2147483940" r:id="rId17"/>
    <p:sldLayoutId id="2147483941" r:id="rId18"/>
    <p:sldLayoutId id="2147483942" r:id="rId19"/>
    <p:sldLayoutId id="2147483943" r:id="rId20"/>
    <p:sldLayoutId id="2147483944" r:id="rId21"/>
    <p:sldLayoutId id="214748394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microsoft.com/office/2007/relationships/hdphoto" Target="../media/hdphoto2.wdp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D8B76AC5-F4BA-45BD-3161-CE739B762C8C}"/>
              </a:ext>
            </a:extLst>
          </p:cNvPr>
          <p:cNvSpPr txBox="1">
            <a:spLocks/>
          </p:cNvSpPr>
          <p:nvPr/>
        </p:nvSpPr>
        <p:spPr>
          <a:xfrm>
            <a:off x="1978701" y="693918"/>
            <a:ext cx="9278911" cy="16338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Weekly Production Review</a:t>
            </a:r>
            <a:endParaRPr lang="en-US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6276F252-1205-F432-F183-7EBC0946A73A}"/>
              </a:ext>
            </a:extLst>
          </p:cNvPr>
          <p:cNvSpPr txBox="1">
            <a:spLocks/>
          </p:cNvSpPr>
          <p:nvPr/>
        </p:nvSpPr>
        <p:spPr>
          <a:xfrm>
            <a:off x="3834852" y="2861611"/>
            <a:ext cx="4534644" cy="6391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>
                <a:solidFill>
                  <a:srgbClr val="002060"/>
                </a:solidFill>
                <a:latin typeface="Aptos" panose="02110004020202020204"/>
              </a:rPr>
              <a:t>1st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j-ea"/>
                <a:cs typeface="+mj-cs"/>
              </a:rPr>
              <a:t>Sep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j-ea"/>
                <a:cs typeface="+mj-cs"/>
              </a:rPr>
              <a:t>2026</a:t>
            </a:r>
          </a:p>
        </p:txBody>
      </p:sp>
      <p:pic>
        <p:nvPicPr>
          <p:cNvPr id="24" name="Picture 23" descr="A group of trucks in a row&#10;&#10;Description automatically generated">
            <a:extLst>
              <a:ext uri="{FF2B5EF4-FFF2-40B4-BE49-F238E27FC236}">
                <a16:creationId xmlns:a16="http://schemas.microsoft.com/office/drawing/2014/main" id="{C2EE44D9-A07D-FABA-6F85-3E1BA13E2A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591" y="4212354"/>
            <a:ext cx="6625648" cy="179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9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Lenovo\Downloads\WhatsApp Image 2023-04-06 at 4.09.51 PM.jpeg">
            <a:extLst>
              <a:ext uri="{FF2B5EF4-FFF2-40B4-BE49-F238E27FC236}">
                <a16:creationId xmlns:a16="http://schemas.microsoft.com/office/drawing/2014/main" id="{4D98B879-D6D1-A990-AA46-378BA30FC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2" y="881590"/>
            <a:ext cx="4097250" cy="51407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4C86DB-E56D-70DA-69B8-F0FFD4B1BE23}"/>
              </a:ext>
            </a:extLst>
          </p:cNvPr>
          <p:cNvSpPr txBox="1"/>
          <p:nvPr/>
        </p:nvSpPr>
        <p:spPr>
          <a:xfrm>
            <a:off x="4802948" y="881590"/>
            <a:ext cx="1271720" cy="349702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Passion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34B2DA-7B81-C28C-F2A0-A191EAAE4612}"/>
              </a:ext>
            </a:extLst>
          </p:cNvPr>
          <p:cNvSpPr txBox="1"/>
          <p:nvPr/>
        </p:nvSpPr>
        <p:spPr>
          <a:xfrm>
            <a:off x="6235042" y="881590"/>
            <a:ext cx="5932303" cy="784830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At VECV, we take pride in our work and are committed to going above and beyond for our customers. Our passion drives us to consistently exceed our stakeholders' expectations.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CCA2A-44FA-4FF7-3FF5-33747397EC00}"/>
              </a:ext>
            </a:extLst>
          </p:cNvPr>
          <p:cNvSpPr txBox="1"/>
          <p:nvPr/>
        </p:nvSpPr>
        <p:spPr>
          <a:xfrm>
            <a:off x="6235043" y="1812812"/>
            <a:ext cx="5932303" cy="1015663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At VECV, we pride ourselves on providing high-quality results and exceeding ambitious targets. We are continually challenging ourselves to innovate for the future and work tirelessly to establish new benchmarks for meeting and exceeding consumer expectations.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019FEE-F9ED-61A0-75B1-72EBDE3E4A7C}"/>
              </a:ext>
            </a:extLst>
          </p:cNvPr>
          <p:cNvSpPr txBox="1"/>
          <p:nvPr/>
        </p:nvSpPr>
        <p:spPr>
          <a:xfrm>
            <a:off x="6235042" y="2967199"/>
            <a:ext cx="5956958" cy="1015663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Respect for all stakeholders is a key belief at VECV, which drives us to deliver on our promises and hold ourselves accountable to all obligations in an enabling atmosphere that recognizes, embraces, and celebrates diversity.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BB8B9-62C5-3D06-F42D-7FF2725FA5E2}"/>
              </a:ext>
            </a:extLst>
          </p:cNvPr>
          <p:cNvSpPr txBox="1"/>
          <p:nvPr/>
        </p:nvSpPr>
        <p:spPr>
          <a:xfrm>
            <a:off x="6235041" y="4127359"/>
            <a:ext cx="5956958" cy="784830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Our goal at VECV is to establish and maintain a strong reputation over time. We endeavor to run our business with integrity, treat everyone fairly, and be reasonable and ethical in all of our dealings.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B949D-5247-71AE-9CF4-02D26A8746C6}"/>
              </a:ext>
            </a:extLst>
          </p:cNvPr>
          <p:cNvSpPr txBox="1"/>
          <p:nvPr/>
        </p:nvSpPr>
        <p:spPr>
          <a:xfrm>
            <a:off x="6235040" y="5006193"/>
            <a:ext cx="5956958" cy="1015663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The customer's point of view  is central to our organizational process, and with a proactive focus on his/her changing  needs, coupled with consistently excellent service, at VECV we aim to create a mutually beneficial long term relationship with our customers.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88842-B805-3694-4259-A62991E8BFAD}"/>
              </a:ext>
            </a:extLst>
          </p:cNvPr>
          <p:cNvSpPr txBox="1"/>
          <p:nvPr/>
        </p:nvSpPr>
        <p:spPr>
          <a:xfrm>
            <a:off x="4802948" y="1823022"/>
            <a:ext cx="1271720" cy="349702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Excellence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7FB0B3-827E-61AB-DADF-68B2EFBBC074}"/>
              </a:ext>
            </a:extLst>
          </p:cNvPr>
          <p:cNvSpPr txBox="1"/>
          <p:nvPr/>
        </p:nvSpPr>
        <p:spPr>
          <a:xfrm>
            <a:off x="4802948" y="2965192"/>
            <a:ext cx="1247065" cy="349702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Respect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2F269-A572-F3D8-D0AE-577FF72B3F91}"/>
              </a:ext>
            </a:extLst>
          </p:cNvPr>
          <p:cNvSpPr txBox="1"/>
          <p:nvPr/>
        </p:nvSpPr>
        <p:spPr>
          <a:xfrm>
            <a:off x="4802948" y="4127359"/>
            <a:ext cx="1247064" cy="646331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Fair &amp; Ethical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9D3F15-CCFB-22AC-3524-4D659A4E95A4}"/>
              </a:ext>
            </a:extLst>
          </p:cNvPr>
          <p:cNvSpPr txBox="1"/>
          <p:nvPr/>
        </p:nvSpPr>
        <p:spPr>
          <a:xfrm>
            <a:off x="4802948" y="5006193"/>
            <a:ext cx="1247064" cy="646331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Customer Centric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ECD712-9FAE-C99C-1CF0-964B3E511A9B}"/>
              </a:ext>
            </a:extLst>
          </p:cNvPr>
          <p:cNvSpPr txBox="1"/>
          <p:nvPr/>
        </p:nvSpPr>
        <p:spPr>
          <a:xfrm>
            <a:off x="3159891" y="254524"/>
            <a:ext cx="5872218" cy="45185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Let’s Value O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ur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Values</a:t>
            </a:r>
          </a:p>
        </p:txBody>
      </p:sp>
    </p:spTree>
    <p:extLst>
      <p:ext uri="{BB962C8B-B14F-4D97-AF65-F5344CB8AC3E}">
        <p14:creationId xmlns:p14="http://schemas.microsoft.com/office/powerpoint/2010/main" val="298787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A54BB-D9FD-5814-2DBF-7D8F4124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68CA6F-1660-15A0-640D-A868AF6C71A4}"/>
              </a:ext>
            </a:extLst>
          </p:cNvPr>
          <p:cNvSpPr/>
          <p:nvPr/>
        </p:nvSpPr>
        <p:spPr>
          <a:xfrm>
            <a:off x="41750" y="879389"/>
            <a:ext cx="6028186" cy="4789892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lIns="91440" tIns="45720" rIns="91440" bIns="45720" rtlCol="0" anchor="t"/>
          <a:lstStyle/>
          <a:p>
            <a:pPr marL="0" marR="0" lvl="0" indent="0" algn="just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263818" algn="l"/>
              </a:tabLst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VolvoNovum-Regular"/>
              </a:rPr>
              <a:t> I will….</a:t>
            </a:r>
            <a:endParaRPr kumimoji="0" lang="en-US" sz="1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FF"/>
              </a:highlight>
              <a:uLnTx/>
              <a:uFillTx/>
              <a:latin typeface="Aptos" panose="02110004020202020204"/>
              <a:ea typeface="Aptos" panose="020B0004020202020204" pitchFamily="34" charset="0"/>
              <a:cs typeface="VolvoNovum-Regular"/>
            </a:endParaRPr>
          </a:p>
          <a:p>
            <a:pPr marL="251460" marR="0" lvl="0" indent="-25146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ü"/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Treat everyone with respect. I will avoid any behavior that could reasonably be seen as offensive or inappropriate. </a:t>
            </a:r>
          </a:p>
          <a:p>
            <a:pPr marL="251460" marR="0" lvl="0" indent="-25146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ü"/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Always engage professionally with coworkers, supervisors, subordinates, and staff of service providers, regardless of differences in opinion, role, or background.</a:t>
            </a:r>
          </a:p>
          <a:p>
            <a:pPr marL="251460" marR="0" lvl="0" indent="-25146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ü"/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Provide equal opportunity to all, regardless of gender, race, religion, caste, color or age.</a:t>
            </a:r>
          </a:p>
          <a:p>
            <a:pPr marL="251460" marR="0" lvl="0" indent="-25146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ü"/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Maintain honest, transparent, and open communication.</a:t>
            </a:r>
          </a:p>
          <a:p>
            <a:pPr marL="251460" marR="0" lvl="0" indent="-25146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ü"/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Object to harassment or other inappropriate conduct, whether directed at me or someone else.</a:t>
            </a:r>
          </a:p>
          <a:p>
            <a:pPr marL="251460" marR="0" lvl="0" indent="-25146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ü"/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Report any potential conflict of interest to my manager</a:t>
            </a:r>
          </a:p>
          <a:p>
            <a:pPr marL="251460" marR="0" lvl="0" indent="-25146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ü"/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 completely aware of and adhere to the Policy for the Prevention of Sexual Harassment at the Workplace.</a:t>
            </a:r>
          </a:p>
          <a:p>
            <a:pPr marL="251460" marR="0" lvl="0" indent="-25146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ü"/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Take responsibility for my own safety and the safety of those 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around.</a:t>
            </a:r>
          </a:p>
          <a:p>
            <a:pPr marL="251460" marR="0" lvl="0" indent="-25146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ü"/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will report any unsafe actions and make sure to understand and obey all safety rules</a:t>
            </a:r>
          </a:p>
          <a:p>
            <a:pPr marL="0" marR="0" lvl="0" indent="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263818" algn="l"/>
              </a:tabLst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658E30-CF51-B3CD-126F-F00B34013CDE}"/>
              </a:ext>
            </a:extLst>
          </p:cNvPr>
          <p:cNvSpPr/>
          <p:nvPr/>
        </p:nvSpPr>
        <p:spPr>
          <a:xfrm>
            <a:off x="6141771" y="879388"/>
            <a:ext cx="6008479" cy="478989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just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263818" algn="l"/>
              </a:tabLst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 will not….</a:t>
            </a:r>
          </a:p>
          <a:p>
            <a:pPr marL="252000" marR="0" lvl="0" indent="-25200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Bully, intimidate, harass or threaten another person</a:t>
            </a:r>
          </a:p>
          <a:p>
            <a:pPr marL="252000" marR="0" lvl="0" indent="-25200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Disclose or share confidential information about the company with unauthorized individuals or on social media.</a:t>
            </a:r>
          </a:p>
          <a:p>
            <a:pPr marL="252000" marR="0" lvl="0" indent="-25200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263818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Discuss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confidential information in public places or leave confidential material unattended, even within the office.</a:t>
            </a:r>
          </a:p>
          <a:p>
            <a:pPr marL="252000" marR="0" lvl="0" indent="-25200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Accept undue favors that could be considered a bribe, or unlawful gifts and entertainment.</a:t>
            </a:r>
          </a:p>
          <a:p>
            <a:pPr marL="252000" marR="0" lvl="0" indent="-25200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Engage in any financial transactions with other employees or those who work with me.</a:t>
            </a:r>
          </a:p>
          <a:p>
            <a:pPr marL="252000" marR="0" lvl="0" indent="-25200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gossip, spread rumors, or engage in any behavior that is hostile, demeaning, or disruptive at work.</a:t>
            </a:r>
          </a:p>
          <a:p>
            <a:pPr marL="252000" marR="0" lvl="0" indent="-25200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Present inaccurate information</a:t>
            </a:r>
          </a:p>
          <a:p>
            <a:pPr marL="252000" marR="0" lvl="0" indent="-252000" algn="l" defTabSz="914377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263818" algn="l"/>
              </a:tabLst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Make anyone wait when they arrive for their scheduled appointment with me.</a:t>
            </a:r>
          </a:p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4E9E3F-F2D0-33D6-F602-4E46B5EDA470}"/>
              </a:ext>
            </a:extLst>
          </p:cNvPr>
          <p:cNvGrpSpPr/>
          <p:nvPr/>
        </p:nvGrpSpPr>
        <p:grpSpPr>
          <a:xfrm>
            <a:off x="4145048" y="117513"/>
            <a:ext cx="3921612" cy="313456"/>
            <a:chOff x="4333619" y="117513"/>
            <a:chExt cx="3921612" cy="313456"/>
          </a:xfrm>
        </p:grpSpPr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D85E48B-B0B5-3ED6-D211-845DE6DDFA63}"/>
                </a:ext>
              </a:extLst>
            </p:cNvPr>
            <p:cNvSpPr/>
            <p:nvPr/>
          </p:nvSpPr>
          <p:spPr>
            <a:xfrm>
              <a:off x="4333619" y="117513"/>
              <a:ext cx="1996723" cy="313456"/>
            </a:xfrm>
            <a:prstGeom prst="parallelogram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CODE OF</a:t>
              </a: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A0ED4B4E-D33A-ACBD-47E9-511AB75C89D1}"/>
                </a:ext>
              </a:extLst>
            </p:cNvPr>
            <p:cNvSpPr/>
            <p:nvPr/>
          </p:nvSpPr>
          <p:spPr>
            <a:xfrm>
              <a:off x="6258507" y="117513"/>
              <a:ext cx="1996724" cy="313456"/>
            </a:xfrm>
            <a:prstGeom prst="parallelogram">
              <a:avLst/>
            </a:prstGeom>
            <a:solidFill>
              <a:srgbClr val="022490"/>
            </a:solidFill>
            <a:ln w="12700" cap="flat" cmpd="sng" algn="ctr">
              <a:solidFill>
                <a:srgbClr val="5B9BD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CONDUCT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C3CC4D6-767D-8EE3-7C04-CB103535D892}"/>
              </a:ext>
            </a:extLst>
          </p:cNvPr>
          <p:cNvSpPr txBox="1"/>
          <p:nvPr/>
        </p:nvSpPr>
        <p:spPr>
          <a:xfrm>
            <a:off x="2080492" y="430969"/>
            <a:ext cx="8904834" cy="374906"/>
          </a:xfrm>
          <a:prstGeom prst="rect">
            <a:avLst/>
          </a:prstGeom>
          <a:noFill/>
        </p:spPr>
        <p:txBody>
          <a:bodyPr wrap="square" lIns="36000" tIns="18000" rIns="36000" bIns="1800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our interaction with Employees and all those who work with us </a:t>
            </a:r>
          </a:p>
        </p:txBody>
      </p:sp>
    </p:spTree>
    <p:extLst>
      <p:ext uri="{BB962C8B-B14F-4D97-AF65-F5344CB8AC3E}">
        <p14:creationId xmlns:p14="http://schemas.microsoft.com/office/powerpoint/2010/main" val="236587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EAA005-7836-D2D0-64B3-D490F7082C7C}"/>
              </a:ext>
            </a:extLst>
          </p:cNvPr>
          <p:cNvSpPr/>
          <p:nvPr/>
        </p:nvSpPr>
        <p:spPr>
          <a:xfrm>
            <a:off x="134852" y="547915"/>
            <a:ext cx="11887200" cy="5480189"/>
          </a:xfrm>
          <a:prstGeom prst="rect">
            <a:avLst/>
          </a:prstGeom>
          <a:solidFill>
            <a:srgbClr val="0E2841">
              <a:lumMod val="10000"/>
              <a:lumOff val="90000"/>
            </a:srgbClr>
          </a:solidFill>
          <a:ln w="571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3" name="Picture 4" descr="1">
            <a:extLst>
              <a:ext uri="{FF2B5EF4-FFF2-40B4-BE49-F238E27FC236}">
                <a16:creationId xmlns:a16="http://schemas.microsoft.com/office/drawing/2014/main" id="{932F98EC-F443-D377-C5A1-40C3D3E26D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76" t="14729" r="14194" b="22946"/>
          <a:stretch/>
        </p:blipFill>
        <p:spPr bwMode="auto">
          <a:xfrm>
            <a:off x="3968488" y="1849698"/>
            <a:ext cx="4255453" cy="261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2">
            <a:extLst>
              <a:ext uri="{FF2B5EF4-FFF2-40B4-BE49-F238E27FC236}">
                <a16:creationId xmlns:a16="http://schemas.microsoft.com/office/drawing/2014/main" id="{8F0F83C8-2F8D-79A8-7235-3CB9AD7D5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879" t="19845" r="12502" b="17520"/>
          <a:stretch/>
        </p:blipFill>
        <p:spPr bwMode="auto">
          <a:xfrm>
            <a:off x="447786" y="1974373"/>
            <a:ext cx="3520702" cy="2148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492538-5C73-0C4F-DD54-F69E123B4BC2}"/>
              </a:ext>
            </a:extLst>
          </p:cNvPr>
          <p:cNvSpPr txBox="1"/>
          <p:nvPr/>
        </p:nvSpPr>
        <p:spPr>
          <a:xfrm>
            <a:off x="2380083" y="31389"/>
            <a:ext cx="7396737" cy="442035"/>
          </a:xfrm>
          <a:prstGeom prst="rect">
            <a:avLst/>
          </a:prstGeom>
          <a:solidFill>
            <a:srgbClr val="0E2841">
              <a:lumMod val="90000"/>
              <a:lumOff val="10000"/>
            </a:srgb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Biome" panose="020B0503030204020804" pitchFamily="34" charset="0"/>
              </a:rPr>
              <a:t>Our Focus – Pro X, Pro 6000 &amp; Pro 7000 Platforms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124E4-56B7-A640-0B74-748CB49B5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43" t="10127" r="7461" b="13147"/>
          <a:stretch>
            <a:fillRect/>
          </a:stretch>
        </p:blipFill>
        <p:spPr>
          <a:xfrm>
            <a:off x="2284787" y="4160211"/>
            <a:ext cx="3278130" cy="1830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2E1F37-5B61-EB2E-43EB-5F0A7DD20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8897" y1="65737" x2="38897" y2="65737"/>
                        <a14:foregroundMark x1="18801" y1="61131" x2="18801" y2="61131"/>
                        <a14:foregroundMark x1="51449" y1="20566" x2="51449" y2="20566"/>
                        <a14:foregroundMark x1="71461" y1="22505" x2="71461" y2="225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434" t="19080" r="17447" b="16782"/>
          <a:stretch>
            <a:fillRect/>
          </a:stretch>
        </p:blipFill>
        <p:spPr>
          <a:xfrm>
            <a:off x="7157345" y="2741775"/>
            <a:ext cx="4864707" cy="328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8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502" y="20429"/>
            <a:ext cx="121834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sng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Likely Opening </a:t>
            </a:r>
            <a:r>
              <a:rPr kumimoji="0" lang="en-IN" sz="28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FG </a:t>
            </a:r>
            <a:r>
              <a:rPr kumimoji="0" lang="en-IN" sz="2800" b="1" i="0" u="sng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1</a:t>
            </a:r>
            <a:r>
              <a:rPr kumimoji="0" lang="en-IN" sz="2800" b="1" i="0" u="sng" strike="noStrike" kern="1200" cap="none" spc="0" normalizeH="0" baseline="300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st</a:t>
            </a:r>
            <a:r>
              <a:rPr kumimoji="0" lang="en-IN" sz="2800" b="1" i="0" u="sng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Sep</a:t>
            </a:r>
            <a:endParaRPr kumimoji="0" lang="en-IN" sz="2800" b="1" i="0" u="sng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5089D-8648-B94F-0E83-368A89FDC7E0}"/>
              </a:ext>
            </a:extLst>
          </p:cNvPr>
          <p:cNvSpPr txBox="1"/>
          <p:nvPr/>
        </p:nvSpPr>
        <p:spPr>
          <a:xfrm>
            <a:off x="2002093" y="508335"/>
            <a:ext cx="8837972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Opening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Saleable FG as on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140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 –9807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against 8793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140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Aug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  <a:defRPr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Opening WIP + RGP as on </a:t>
            </a:r>
            <a:r>
              <a:rPr lang="en-US" sz="1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400" baseline="30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sz="1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 – 1140as against 1833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en-US" sz="1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400" baseline="30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sz="1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Aug 26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B41646-931D-8D60-8642-E6BFFB0EF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10057"/>
              </p:ext>
            </p:extLst>
          </p:nvPr>
        </p:nvGraphicFramePr>
        <p:xfrm>
          <a:off x="2065157" y="1407674"/>
          <a:ext cx="6243273" cy="2985135"/>
        </p:xfrm>
        <a:graphic>
          <a:graphicData uri="http://schemas.openxmlformats.org/drawingml/2006/table">
            <a:tbl>
              <a:tblPr/>
              <a:tblGrid>
                <a:gridCol w="700810">
                  <a:extLst>
                    <a:ext uri="{9D8B030D-6E8A-4147-A177-3AD203B41FA5}">
                      <a16:colId xmlns:a16="http://schemas.microsoft.com/office/drawing/2014/main" val="3735900432"/>
                    </a:ext>
                  </a:extLst>
                </a:gridCol>
                <a:gridCol w="2011459">
                  <a:extLst>
                    <a:ext uri="{9D8B030D-6E8A-4147-A177-3AD203B41FA5}">
                      <a16:colId xmlns:a16="http://schemas.microsoft.com/office/drawing/2014/main" val="1912524639"/>
                    </a:ext>
                  </a:extLst>
                </a:gridCol>
                <a:gridCol w="606470">
                  <a:extLst>
                    <a:ext uri="{9D8B030D-6E8A-4147-A177-3AD203B41FA5}">
                      <a16:colId xmlns:a16="http://schemas.microsoft.com/office/drawing/2014/main" val="2628153579"/>
                    </a:ext>
                  </a:extLst>
                </a:gridCol>
                <a:gridCol w="579516">
                  <a:extLst>
                    <a:ext uri="{9D8B030D-6E8A-4147-A177-3AD203B41FA5}">
                      <a16:colId xmlns:a16="http://schemas.microsoft.com/office/drawing/2014/main" val="2926868310"/>
                    </a:ext>
                  </a:extLst>
                </a:gridCol>
                <a:gridCol w="606470">
                  <a:extLst>
                    <a:ext uri="{9D8B030D-6E8A-4147-A177-3AD203B41FA5}">
                      <a16:colId xmlns:a16="http://schemas.microsoft.com/office/drawing/2014/main" val="1698699393"/>
                    </a:ext>
                  </a:extLst>
                </a:gridCol>
                <a:gridCol w="606470">
                  <a:extLst>
                    <a:ext uri="{9D8B030D-6E8A-4147-A177-3AD203B41FA5}">
                      <a16:colId xmlns:a16="http://schemas.microsoft.com/office/drawing/2014/main" val="4045383376"/>
                    </a:ext>
                  </a:extLst>
                </a:gridCol>
                <a:gridCol w="566039">
                  <a:extLst>
                    <a:ext uri="{9D8B030D-6E8A-4147-A177-3AD203B41FA5}">
                      <a16:colId xmlns:a16="http://schemas.microsoft.com/office/drawing/2014/main" val="343598024"/>
                    </a:ext>
                  </a:extLst>
                </a:gridCol>
                <a:gridCol w="566039">
                  <a:extLst>
                    <a:ext uri="{9D8B030D-6E8A-4147-A177-3AD203B41FA5}">
                      <a16:colId xmlns:a16="http://schemas.microsoft.com/office/drawing/2014/main" val="4057665760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Opening FG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Exports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LD Trucks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Trucks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026273"/>
                  </a:ext>
                </a:extLst>
              </a:tr>
              <a:tr h="1905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Saleable Opening FG 1st Aug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6576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4944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RGP WIP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0741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WIP+RGP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41119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 (FG+WIP+RGP)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804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468627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1409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58204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303236"/>
                  </a:ext>
                </a:extLst>
              </a:tr>
              <a:tr h="200025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1st Sep 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Likely Saleable Opening FG 1st Sep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9807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3609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1968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0727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73051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RGP WIP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68745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WIP+RGP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01016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 (FG+WIP+RGP)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273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66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5E474-D0A5-7609-A1DC-EF01E040A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E4B83EF-CD9D-DCBB-E4DF-E3D72F396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939572"/>
            <a:ext cx="12001500" cy="45597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395737-8D68-73CD-A58F-9F8FEC68ADF2}"/>
              </a:ext>
            </a:extLst>
          </p:cNvPr>
          <p:cNvSpPr/>
          <p:nvPr/>
        </p:nvSpPr>
        <p:spPr>
          <a:xfrm>
            <a:off x="55117" y="29077"/>
            <a:ext cx="8696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Simulation based on Sales demand &amp; sale indication……..</a:t>
            </a:r>
            <a:endParaRPr kumimoji="0" lang="en-IN" sz="24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  <a:ea typeface="Segoe UI Symbol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9C643-EE04-5FA3-D156-159ACCBD1376}"/>
              </a:ext>
            </a:extLst>
          </p:cNvPr>
          <p:cNvSpPr txBox="1"/>
          <p:nvPr/>
        </p:nvSpPr>
        <p:spPr>
          <a:xfrm>
            <a:off x="114300" y="3157149"/>
            <a:ext cx="61170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Scenario 2 – 10K Production &amp; 10K Sale in </a:t>
            </a:r>
            <a:r>
              <a:rPr lang="en-US" sz="1200" b="1">
                <a:solidFill>
                  <a:srgbClr val="000000"/>
                </a:solidFill>
                <a:latin typeface="Calibri" panose="020F0502020204030204" pitchFamily="34" charset="0"/>
              </a:rPr>
              <a:t>Sep/Oct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19EB62-E371-4387-1086-6ABCBD0A140D}"/>
              </a:ext>
            </a:extLst>
          </p:cNvPr>
          <p:cNvSpPr txBox="1"/>
          <p:nvPr/>
        </p:nvSpPr>
        <p:spPr>
          <a:xfrm>
            <a:off x="55117" y="576657"/>
            <a:ext cx="61170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Scenario 1 – </a:t>
            </a:r>
            <a:r>
              <a:rPr lang="en-US" sz="1200" b="1">
                <a:solidFill>
                  <a:srgbClr val="000000"/>
                </a:solidFill>
                <a:latin typeface="Calibri" panose="020F0502020204030204" pitchFamily="34" charset="0"/>
              </a:rPr>
              <a:t>Based on Sales Demand, Projection &amp; Commitment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212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5E10DA-CD4D-BA29-1F87-97A2E424E2F8}"/>
              </a:ext>
            </a:extLst>
          </p:cNvPr>
          <p:cNvSpPr txBox="1"/>
          <p:nvPr/>
        </p:nvSpPr>
        <p:spPr>
          <a:xfrm>
            <a:off x="2297056" y="176673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US" sz="2800" b="0" i="1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Rollout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Comparison FY’26 vs FY’27</a:t>
            </a:r>
            <a:endParaRPr lang="en-US" sz="2800" b="0" i="1" u="none" strike="noStrike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C0A872-27C5-4754-7AEC-E49563C31ED9}"/>
              </a:ext>
            </a:extLst>
          </p:cNvPr>
          <p:cNvSpPr txBox="1"/>
          <p:nvPr/>
        </p:nvSpPr>
        <p:spPr>
          <a:xfrm>
            <a:off x="257628" y="765304"/>
            <a:ext cx="883797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Rollout 24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&amp; Sales 15% up than </a:t>
            </a:r>
            <a:r>
              <a:rPr lang="en-US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 year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B49018-53A9-AEBF-CF93-CD1E70FEF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049107"/>
              </p:ext>
            </p:extLst>
          </p:nvPr>
        </p:nvGraphicFramePr>
        <p:xfrm>
          <a:off x="670911" y="1295586"/>
          <a:ext cx="10727559" cy="4537654"/>
        </p:xfrm>
        <a:graphic>
          <a:graphicData uri="http://schemas.openxmlformats.org/drawingml/2006/table">
            <a:tbl>
              <a:tblPr/>
              <a:tblGrid>
                <a:gridCol w="679999">
                  <a:extLst>
                    <a:ext uri="{9D8B030D-6E8A-4147-A177-3AD203B41FA5}">
                      <a16:colId xmlns:a16="http://schemas.microsoft.com/office/drawing/2014/main" val="1030405879"/>
                    </a:ext>
                  </a:extLst>
                </a:gridCol>
                <a:gridCol w="691722">
                  <a:extLst>
                    <a:ext uri="{9D8B030D-6E8A-4147-A177-3AD203B41FA5}">
                      <a16:colId xmlns:a16="http://schemas.microsoft.com/office/drawing/2014/main" val="20683973"/>
                    </a:ext>
                  </a:extLst>
                </a:gridCol>
                <a:gridCol w="621377">
                  <a:extLst>
                    <a:ext uri="{9D8B030D-6E8A-4147-A177-3AD203B41FA5}">
                      <a16:colId xmlns:a16="http://schemas.microsoft.com/office/drawing/2014/main" val="1123096703"/>
                    </a:ext>
                  </a:extLst>
                </a:gridCol>
                <a:gridCol w="691722">
                  <a:extLst>
                    <a:ext uri="{9D8B030D-6E8A-4147-A177-3AD203B41FA5}">
                      <a16:colId xmlns:a16="http://schemas.microsoft.com/office/drawing/2014/main" val="3573719460"/>
                    </a:ext>
                  </a:extLst>
                </a:gridCol>
                <a:gridCol w="621377">
                  <a:extLst>
                    <a:ext uri="{9D8B030D-6E8A-4147-A177-3AD203B41FA5}">
                      <a16:colId xmlns:a16="http://schemas.microsoft.com/office/drawing/2014/main" val="2323405865"/>
                    </a:ext>
                  </a:extLst>
                </a:gridCol>
                <a:gridCol w="703446">
                  <a:extLst>
                    <a:ext uri="{9D8B030D-6E8A-4147-A177-3AD203B41FA5}">
                      <a16:colId xmlns:a16="http://schemas.microsoft.com/office/drawing/2014/main" val="2934658923"/>
                    </a:ext>
                  </a:extLst>
                </a:gridCol>
                <a:gridCol w="1207584">
                  <a:extLst>
                    <a:ext uri="{9D8B030D-6E8A-4147-A177-3AD203B41FA5}">
                      <a16:colId xmlns:a16="http://schemas.microsoft.com/office/drawing/2014/main" val="1221538492"/>
                    </a:ext>
                  </a:extLst>
                </a:gridCol>
                <a:gridCol w="750344">
                  <a:extLst>
                    <a:ext uri="{9D8B030D-6E8A-4147-A177-3AD203B41FA5}">
                      <a16:colId xmlns:a16="http://schemas.microsoft.com/office/drawing/2014/main" val="326538981"/>
                    </a:ext>
                  </a:extLst>
                </a:gridCol>
                <a:gridCol w="621377">
                  <a:extLst>
                    <a:ext uri="{9D8B030D-6E8A-4147-A177-3AD203B41FA5}">
                      <a16:colId xmlns:a16="http://schemas.microsoft.com/office/drawing/2014/main" val="724976999"/>
                    </a:ext>
                  </a:extLst>
                </a:gridCol>
                <a:gridCol w="609654">
                  <a:extLst>
                    <a:ext uri="{9D8B030D-6E8A-4147-A177-3AD203B41FA5}">
                      <a16:colId xmlns:a16="http://schemas.microsoft.com/office/drawing/2014/main" val="2220369446"/>
                    </a:ext>
                  </a:extLst>
                </a:gridCol>
                <a:gridCol w="539309">
                  <a:extLst>
                    <a:ext uri="{9D8B030D-6E8A-4147-A177-3AD203B41FA5}">
                      <a16:colId xmlns:a16="http://schemas.microsoft.com/office/drawing/2014/main" val="3832145186"/>
                    </a:ext>
                  </a:extLst>
                </a:gridCol>
                <a:gridCol w="539309">
                  <a:extLst>
                    <a:ext uri="{9D8B030D-6E8A-4147-A177-3AD203B41FA5}">
                      <a16:colId xmlns:a16="http://schemas.microsoft.com/office/drawing/2014/main" val="2393986230"/>
                    </a:ext>
                  </a:extLst>
                </a:gridCol>
                <a:gridCol w="539309">
                  <a:extLst>
                    <a:ext uri="{9D8B030D-6E8A-4147-A177-3AD203B41FA5}">
                      <a16:colId xmlns:a16="http://schemas.microsoft.com/office/drawing/2014/main" val="852777244"/>
                    </a:ext>
                  </a:extLst>
                </a:gridCol>
                <a:gridCol w="703446">
                  <a:extLst>
                    <a:ext uri="{9D8B030D-6E8A-4147-A177-3AD203B41FA5}">
                      <a16:colId xmlns:a16="http://schemas.microsoft.com/office/drawing/2014/main" val="1151299362"/>
                    </a:ext>
                  </a:extLst>
                </a:gridCol>
                <a:gridCol w="1207584">
                  <a:extLst>
                    <a:ext uri="{9D8B030D-6E8A-4147-A177-3AD203B41FA5}">
                      <a16:colId xmlns:a16="http://schemas.microsoft.com/office/drawing/2014/main" val="608883333"/>
                    </a:ext>
                  </a:extLst>
                </a:gridCol>
              </a:tblGrid>
              <a:tr h="327306">
                <a:tc gridSpan="1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Rollout Comparision FY'26 vs FY'27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732802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FY'26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Opng FG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Opng WIP+RGP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FY'27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Opng FG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Opng WIP+RGP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904138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00316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704928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663581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29738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314206"/>
                  </a:ext>
                </a:extLst>
              </a:tr>
              <a:tr h="31242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35590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44098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42395"/>
                  </a:ext>
                </a:extLst>
              </a:tr>
              <a:tr h="31242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42928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42389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387278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49931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50160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559455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57842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57585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887306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68499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67762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35000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79962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78192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035528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90954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87958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244486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102452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101071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196082"/>
                  </a:ext>
                </a:extLst>
              </a:tr>
              <a:tr h="31242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102452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101071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D9D9D9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D9D9D9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44098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D9D9D9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058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95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CC52FD-1530-7FA9-F009-D962121E0ACB}"/>
              </a:ext>
            </a:extLst>
          </p:cNvPr>
          <p:cNvSpPr txBox="1"/>
          <p:nvPr/>
        </p:nvSpPr>
        <p:spPr>
          <a:xfrm>
            <a:off x="0" y="20471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Segoe UI Symbol" panose="020B0502040204020203" pitchFamily="34" charset="0"/>
                <a:cs typeface="Calibri" panose="020F0502020204030204" pitchFamily="34" charset="0"/>
              </a:rPr>
              <a:t>BP vs Actual</a:t>
            </a: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  <a:ea typeface="Segoe UI Symbol" panose="020B0502040204020203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ABE97F-7F28-3712-A1E3-51D1E1A8F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013802"/>
              </p:ext>
            </p:extLst>
          </p:nvPr>
        </p:nvGraphicFramePr>
        <p:xfrm>
          <a:off x="257628" y="1249224"/>
          <a:ext cx="4825999" cy="4978408"/>
        </p:xfrm>
        <a:graphic>
          <a:graphicData uri="http://schemas.openxmlformats.org/drawingml/2006/table">
            <a:tbl>
              <a:tblPr/>
              <a:tblGrid>
                <a:gridCol w="775210">
                  <a:extLst>
                    <a:ext uri="{9D8B030D-6E8A-4147-A177-3AD203B41FA5}">
                      <a16:colId xmlns:a16="http://schemas.microsoft.com/office/drawing/2014/main" val="1026117838"/>
                    </a:ext>
                  </a:extLst>
                </a:gridCol>
                <a:gridCol w="571876">
                  <a:extLst>
                    <a:ext uri="{9D8B030D-6E8A-4147-A177-3AD203B41FA5}">
                      <a16:colId xmlns:a16="http://schemas.microsoft.com/office/drawing/2014/main" val="3639604386"/>
                    </a:ext>
                  </a:extLst>
                </a:gridCol>
                <a:gridCol w="571876">
                  <a:extLst>
                    <a:ext uri="{9D8B030D-6E8A-4147-A177-3AD203B41FA5}">
                      <a16:colId xmlns:a16="http://schemas.microsoft.com/office/drawing/2014/main" val="4024398709"/>
                    </a:ext>
                  </a:extLst>
                </a:gridCol>
                <a:gridCol w="571876">
                  <a:extLst>
                    <a:ext uri="{9D8B030D-6E8A-4147-A177-3AD203B41FA5}">
                      <a16:colId xmlns:a16="http://schemas.microsoft.com/office/drawing/2014/main" val="2254022100"/>
                    </a:ext>
                  </a:extLst>
                </a:gridCol>
                <a:gridCol w="571876">
                  <a:extLst>
                    <a:ext uri="{9D8B030D-6E8A-4147-A177-3AD203B41FA5}">
                      <a16:colId xmlns:a16="http://schemas.microsoft.com/office/drawing/2014/main" val="426319469"/>
                    </a:ext>
                  </a:extLst>
                </a:gridCol>
                <a:gridCol w="590939">
                  <a:extLst>
                    <a:ext uri="{9D8B030D-6E8A-4147-A177-3AD203B41FA5}">
                      <a16:colId xmlns:a16="http://schemas.microsoft.com/office/drawing/2014/main" val="2072355832"/>
                    </a:ext>
                  </a:extLst>
                </a:gridCol>
                <a:gridCol w="610001">
                  <a:extLst>
                    <a:ext uri="{9D8B030D-6E8A-4147-A177-3AD203B41FA5}">
                      <a16:colId xmlns:a16="http://schemas.microsoft.com/office/drawing/2014/main" val="2002613966"/>
                    </a:ext>
                  </a:extLst>
                </a:gridCol>
                <a:gridCol w="562345">
                  <a:extLst>
                    <a:ext uri="{9D8B030D-6E8A-4147-A177-3AD203B41FA5}">
                      <a16:colId xmlns:a16="http://schemas.microsoft.com/office/drawing/2014/main" val="792200088"/>
                    </a:ext>
                  </a:extLst>
                </a:gridCol>
              </a:tblGrid>
              <a:tr h="29079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Plan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817091"/>
                  </a:ext>
                </a:extLst>
              </a:tr>
              <a:tr h="2907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056251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849485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469287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856389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732565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274667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504519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543819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091044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005213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373889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371150"/>
                  </a:ext>
                </a:extLst>
              </a:tr>
              <a:tr h="290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361124"/>
                  </a:ext>
                </a:extLst>
              </a:tr>
              <a:tr h="3024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112970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44098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44118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849104"/>
                  </a:ext>
                </a:extLst>
              </a:tr>
              <a:tr h="302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YTD 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827234"/>
                  </a:ext>
                </a:extLst>
              </a:tr>
              <a:tr h="302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YTD BP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42256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42256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42256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1633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874276-2C09-2FF1-681B-7A4BD0FB53CA}"/>
              </a:ext>
            </a:extLst>
          </p:cNvPr>
          <p:cNvSpPr txBox="1"/>
          <p:nvPr/>
        </p:nvSpPr>
        <p:spPr>
          <a:xfrm>
            <a:off x="257628" y="460504"/>
            <a:ext cx="883797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Rollout </a:t>
            </a:r>
            <a:r>
              <a:rPr lang="en-US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4.4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up than BP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2F777B7-30CB-477E-BA6A-21A8CB81F6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9804080"/>
              </p:ext>
            </p:extLst>
          </p:nvPr>
        </p:nvGraphicFramePr>
        <p:xfrm>
          <a:off x="5185410" y="1249224"/>
          <a:ext cx="69494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F21B2D8-009D-46F2-8AE2-9CA0BCABB7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417469"/>
              </p:ext>
            </p:extLst>
          </p:nvPr>
        </p:nvGraphicFramePr>
        <p:xfrm>
          <a:off x="5171555" y="3758746"/>
          <a:ext cx="69494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98226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8924"/>
            <a:ext cx="1218349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Actuals Volume (</a:t>
            </a:r>
            <a:r>
              <a:rPr lang="en-US" sz="2000" b="1" u="sng">
                <a:solidFill>
                  <a:srgbClr val="00206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Sep</a:t>
            </a:r>
            <a:r>
              <a:rPr kumimoji="0" lang="en-US" sz="2000" b="1" i="0" u="sng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’26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3446" y="732500"/>
            <a:ext cx="5466926" cy="584775"/>
          </a:xfrm>
          <a:prstGeom prst="rect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82000">
                <a:schemeClr val="bg1"/>
              </a:gs>
            </a:gsLst>
          </a:gra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/>
              <a:t>Rollout Actual — 8458 (CV 7681 + Pro X – 777), </a:t>
            </a:r>
            <a:endParaRPr lang="en-US" sz="16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/>
              <a:t>Delivery Actual – 9176 (CV 8223 + Pro X - 953),</a:t>
            </a:r>
            <a:endParaRPr lang="en-US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8E1AF6-3328-43B0-7439-E3198F397DCF}"/>
              </a:ext>
            </a:extLst>
          </p:cNvPr>
          <p:cNvSpPr txBox="1"/>
          <p:nvPr/>
        </p:nvSpPr>
        <p:spPr>
          <a:xfrm>
            <a:off x="47657" y="3299152"/>
            <a:ext cx="5344098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ED675B-D14C-23DA-FDBC-0BD11FA7D38F}"/>
              </a:ext>
            </a:extLst>
          </p:cNvPr>
          <p:cNvSpPr txBox="1"/>
          <p:nvPr/>
        </p:nvSpPr>
        <p:spPr>
          <a:xfrm>
            <a:off x="6078999" y="3191701"/>
            <a:ext cx="60653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EPS: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Engines – Sales Demand 586/Commitment 614/Delivery Actual – 595)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Axles—   Sales Demand </a:t>
            </a:r>
            <a:r>
              <a:rPr lang="en-US" sz="1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134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/Commitment 134/Delivery Actual – 132)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IS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: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Commitment- </a:t>
            </a:r>
            <a:r>
              <a:rPr lang="en-IN" sz="14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27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Actual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– </a:t>
            </a:r>
            <a:r>
              <a:rPr lang="en-IN" sz="14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60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C07434-7EEE-D6C7-51EB-2413CF3BB064}"/>
              </a:ext>
            </a:extLst>
          </p:cNvPr>
          <p:cNvCxnSpPr/>
          <p:nvPr/>
        </p:nvCxnSpPr>
        <p:spPr>
          <a:xfrm>
            <a:off x="5827982" y="3035927"/>
            <a:ext cx="0" cy="324464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9443DA-662F-AC71-41F3-E0980476E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181135"/>
              </p:ext>
            </p:extLst>
          </p:nvPr>
        </p:nvGraphicFramePr>
        <p:xfrm>
          <a:off x="106649" y="3682946"/>
          <a:ext cx="5268105" cy="795522"/>
        </p:xfrm>
        <a:graphic>
          <a:graphicData uri="http://schemas.openxmlformats.org/drawingml/2006/table">
            <a:tbl>
              <a:tblPr firstRow="1" firstCol="1" bandRow="1"/>
              <a:tblGrid>
                <a:gridCol w="1237425">
                  <a:extLst>
                    <a:ext uri="{9D8B030D-6E8A-4147-A177-3AD203B41FA5}">
                      <a16:colId xmlns:a16="http://schemas.microsoft.com/office/drawing/2014/main" val="2924016047"/>
                    </a:ext>
                  </a:extLst>
                </a:gridCol>
                <a:gridCol w="671780">
                  <a:extLst>
                    <a:ext uri="{9D8B030D-6E8A-4147-A177-3AD203B41FA5}">
                      <a16:colId xmlns:a16="http://schemas.microsoft.com/office/drawing/2014/main" val="1292049546"/>
                    </a:ext>
                  </a:extLst>
                </a:gridCol>
                <a:gridCol w="671780">
                  <a:extLst>
                    <a:ext uri="{9D8B030D-6E8A-4147-A177-3AD203B41FA5}">
                      <a16:colId xmlns:a16="http://schemas.microsoft.com/office/drawing/2014/main" val="323412279"/>
                    </a:ext>
                  </a:extLst>
                </a:gridCol>
                <a:gridCol w="671780">
                  <a:extLst>
                    <a:ext uri="{9D8B030D-6E8A-4147-A177-3AD203B41FA5}">
                      <a16:colId xmlns:a16="http://schemas.microsoft.com/office/drawing/2014/main" val="3324966437"/>
                    </a:ext>
                  </a:extLst>
                </a:gridCol>
                <a:gridCol w="671780">
                  <a:extLst>
                    <a:ext uri="{9D8B030D-6E8A-4147-A177-3AD203B41FA5}">
                      <a16:colId xmlns:a16="http://schemas.microsoft.com/office/drawing/2014/main" val="1555621278"/>
                    </a:ext>
                  </a:extLst>
                </a:gridCol>
                <a:gridCol w="671780">
                  <a:extLst>
                    <a:ext uri="{9D8B030D-6E8A-4147-A177-3AD203B41FA5}">
                      <a16:colId xmlns:a16="http://schemas.microsoft.com/office/drawing/2014/main" val="3236029386"/>
                    </a:ext>
                  </a:extLst>
                </a:gridCol>
                <a:gridCol w="671780">
                  <a:extLst>
                    <a:ext uri="{9D8B030D-6E8A-4147-A177-3AD203B41FA5}">
                      <a16:colId xmlns:a16="http://schemas.microsoft.com/office/drawing/2014/main" val="395970609"/>
                    </a:ext>
                  </a:extLst>
                </a:gridCol>
              </a:tblGrid>
              <a:tr h="183582">
                <a:tc rowSpan="2">
                  <a:txBody>
                    <a:bodyPr/>
                    <a:lstStyle/>
                    <a:p>
                      <a:pPr marL="0" marR="0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Commitment</a:t>
                      </a:r>
                      <a:r>
                        <a:rPr lang="en-US" sz="120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th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Actual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445278"/>
                  </a:ext>
                </a:extLst>
              </a:tr>
              <a:tr h="1835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Truck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Buses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Truck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Buses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01726"/>
                  </a:ext>
                </a:extLst>
              </a:tr>
              <a:tr h="21417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Delivery by 30</a:t>
                      </a:r>
                      <a:r>
                        <a:rPr lang="en-US" sz="1200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th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   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197197"/>
                  </a:ext>
                </a:extLst>
              </a:tr>
              <a:tr h="21417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Billable by 30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th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 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55783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60F6FB7-541B-309F-2085-C832C7830214}"/>
              </a:ext>
            </a:extLst>
          </p:cNvPr>
          <p:cNvSpPr txBox="1"/>
          <p:nvPr/>
        </p:nvSpPr>
        <p:spPr>
          <a:xfrm>
            <a:off x="6101870" y="4717909"/>
            <a:ext cx="60984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Buses:</a:t>
            </a:r>
            <a:endParaRPr lang="en-US" sz="14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Bus plant demand – 1118 / Commitment – 625 / Actual - 671</a:t>
            </a: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Domestic bus demand 295/ Commitment- 377 / Actual- 425</a:t>
            </a: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Audi demand - 5/ Commitment- 61/ Actual - 55</a:t>
            </a: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Exports – 580 Demand / Commitment- 215 / Actual- 183</a:t>
            </a:r>
          </a:p>
          <a:p>
            <a:pPr marR="0" lvl="0"/>
            <a:r>
              <a:rPr lang="en-US" sz="1400" b="1">
                <a:solidFill>
                  <a:srgbClr val="0000FF"/>
                </a:solidFill>
                <a:latin typeface="Calibri" panose="020F0502020204030204" pitchFamily="34" charset="0"/>
              </a:rPr>
              <a:t>Market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</a:rPr>
              <a:t>Cowl</a:t>
            </a:r>
            <a:endParaRPr lang="en-US" sz="1400" b="1" dirty="0">
              <a:solidFill>
                <a:srgbClr val="00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Commitment </a:t>
            </a:r>
            <a:r>
              <a:rPr lang="en-US" sz="1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1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17, Actual 651</a:t>
            </a:r>
            <a:endParaRPr lang="en-US" sz="1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BF53F-9847-03B0-8D6A-FE82E08A6ED3}"/>
              </a:ext>
            </a:extLst>
          </p:cNvPr>
          <p:cNvSpPr txBox="1"/>
          <p:nvPr/>
        </p:nvSpPr>
        <p:spPr>
          <a:xfrm>
            <a:off x="74693" y="4495129"/>
            <a:ext cx="686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1600" b="1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 X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123686E-2C25-E4E6-2B2A-81B310DA2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52515"/>
              </p:ext>
            </p:extLst>
          </p:nvPr>
        </p:nvGraphicFramePr>
        <p:xfrm>
          <a:off x="161776" y="4807162"/>
          <a:ext cx="5212963" cy="1154430"/>
        </p:xfrm>
        <a:graphic>
          <a:graphicData uri="http://schemas.openxmlformats.org/drawingml/2006/table">
            <a:tbl>
              <a:tblPr/>
              <a:tblGrid>
                <a:gridCol w="903540">
                  <a:extLst>
                    <a:ext uri="{9D8B030D-6E8A-4147-A177-3AD203B41FA5}">
                      <a16:colId xmlns:a16="http://schemas.microsoft.com/office/drawing/2014/main" val="891893184"/>
                    </a:ext>
                  </a:extLst>
                </a:gridCol>
                <a:gridCol w="828429">
                  <a:extLst>
                    <a:ext uri="{9D8B030D-6E8A-4147-A177-3AD203B41FA5}">
                      <a16:colId xmlns:a16="http://schemas.microsoft.com/office/drawing/2014/main" val="2665308491"/>
                    </a:ext>
                  </a:extLst>
                </a:gridCol>
                <a:gridCol w="704961">
                  <a:extLst>
                    <a:ext uri="{9D8B030D-6E8A-4147-A177-3AD203B41FA5}">
                      <a16:colId xmlns:a16="http://schemas.microsoft.com/office/drawing/2014/main" val="2442901155"/>
                    </a:ext>
                  </a:extLst>
                </a:gridCol>
                <a:gridCol w="776652">
                  <a:extLst>
                    <a:ext uri="{9D8B030D-6E8A-4147-A177-3AD203B41FA5}">
                      <a16:colId xmlns:a16="http://schemas.microsoft.com/office/drawing/2014/main" val="3364042070"/>
                    </a:ext>
                  </a:extLst>
                </a:gridCol>
                <a:gridCol w="780635">
                  <a:extLst>
                    <a:ext uri="{9D8B030D-6E8A-4147-A177-3AD203B41FA5}">
                      <a16:colId xmlns:a16="http://schemas.microsoft.com/office/drawing/2014/main" val="1939909832"/>
                    </a:ext>
                  </a:extLst>
                </a:gridCol>
                <a:gridCol w="776652">
                  <a:extLst>
                    <a:ext uri="{9D8B030D-6E8A-4147-A177-3AD203B41FA5}">
                      <a16:colId xmlns:a16="http://schemas.microsoft.com/office/drawing/2014/main" val="2075859819"/>
                    </a:ext>
                  </a:extLst>
                </a:gridCol>
                <a:gridCol w="442094">
                  <a:extLst>
                    <a:ext uri="{9D8B030D-6E8A-4147-A177-3AD203B41FA5}">
                      <a16:colId xmlns:a16="http://schemas.microsoft.com/office/drawing/2014/main" val="1348445213"/>
                    </a:ext>
                  </a:extLst>
                </a:gridCol>
              </a:tblGrid>
              <a:tr h="6548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</a:rPr>
                        <a:t>Models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</a:rPr>
                        <a:t>Demand S&amp;OP II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</a:rPr>
                        <a:t>Commitment 8th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</a:rPr>
                        <a:t>MTD Actuals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82754"/>
                  </a:ext>
                </a:extLst>
              </a:tr>
              <a:tr h="1244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</a:rPr>
                        <a:t>Rollout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</a:rPr>
                        <a:t>Delivery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</a:rPr>
                        <a:t>Rollout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</a:rPr>
                        <a:t>Delivery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</a:rPr>
                        <a:t>WIP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416854"/>
                  </a:ext>
                </a:extLst>
              </a:tr>
              <a:tr h="654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Pro X DSL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1146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915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1015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763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936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955015"/>
                  </a:ext>
                </a:extLst>
              </a:tr>
              <a:tr h="654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Pro X CNG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543208"/>
                  </a:ext>
                </a:extLst>
              </a:tr>
              <a:tr h="654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Pro X EV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207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680843"/>
                  </a:ext>
                </a:extLst>
              </a:tr>
              <a:tr h="654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Pro X 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1418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1108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1187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777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953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6287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D9B5FCB-0151-A3E4-23C8-96393F30FEAB}"/>
              </a:ext>
            </a:extLst>
          </p:cNvPr>
          <p:cNvSpPr txBox="1"/>
          <p:nvPr/>
        </p:nvSpPr>
        <p:spPr>
          <a:xfrm>
            <a:off x="114479" y="739975"/>
            <a:ext cx="5344098" cy="2048894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82000">
                <a:schemeClr val="bg1"/>
              </a:gs>
            </a:gsLst>
            <a:lin ang="18900000" scaled="1"/>
            <a:tileRect/>
          </a:gra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effectLst/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</a:rPr>
              <a:t>Highlights:-</a:t>
            </a:r>
            <a:r>
              <a:rPr lang="en-US" sz="14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200">
                <a:latin typeface="Calibri" panose="020F0502020204030204" pitchFamily="34" charset="0"/>
                <a:ea typeface="Times New Roman" panose="02020603050405020304" pitchFamily="18" charset="0"/>
              </a:rPr>
              <a:t>YTD rollout till Aug 44098 in FY’27, 24% up w.r.t. 35590 in FY’26.</a:t>
            </a:r>
          </a:p>
          <a:p>
            <a:pPr marL="742950" lvl="1" indent="-28575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200">
                <a:latin typeface="Calibri" panose="020F0502020204030204" pitchFamily="34" charset="0"/>
                <a:ea typeface="Times New Roman" panose="02020603050405020304" pitchFamily="18" charset="0"/>
              </a:rPr>
              <a:t>Highest ever CV Rollout in any Aug 8458 earlier 5852 in Aug-25.</a:t>
            </a:r>
            <a:endParaRPr lang="en-US" sz="120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2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Highest </a:t>
            </a:r>
            <a:r>
              <a:rPr lang="en-US" sz="1200">
                <a:latin typeface="Calibri" panose="020F0502020204030204" pitchFamily="34" charset="0"/>
                <a:ea typeface="Times New Roman" panose="02020603050405020304" pitchFamily="18" charset="0"/>
              </a:rPr>
              <a:t>e</a:t>
            </a:r>
            <a:r>
              <a:rPr lang="en-US" sz="12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ver Pro X Rollout 777 earlier 755 in July-26</a:t>
            </a:r>
            <a:r>
              <a:rPr lang="en-US" sz="1200"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  <a:p>
            <a:pPr marL="742950" marR="0" lvl="1" indent="-28575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200">
                <a:latin typeface="Calibri" panose="020F0502020204030204" pitchFamily="34" charset="0"/>
                <a:ea typeface="Aptos" panose="020B0004020202020204" pitchFamily="34" charset="0"/>
              </a:rPr>
              <a:t>CKD Delivered 100 nos</a:t>
            </a:r>
          </a:p>
          <a:p>
            <a:pPr marL="742950" marR="0" lvl="1" indent="-28575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200">
                <a:latin typeface="Calibri" panose="020F0502020204030204" pitchFamily="34" charset="0"/>
                <a:ea typeface="Aptos" panose="020B0004020202020204" pitchFamily="34" charset="0"/>
              </a:rPr>
              <a:t>IS Buses Delivery enhanced (Kerela Police &amp; Others) 27 to 60 </a:t>
            </a:r>
          </a:p>
          <a:p>
            <a:pPr marL="742950" marR="0" lvl="1" indent="-28575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200">
                <a:latin typeface="Calibri" panose="020F0502020204030204" pitchFamily="34" charset="0"/>
                <a:ea typeface="Aptos" panose="020B0004020202020204" pitchFamily="34" charset="0"/>
              </a:rPr>
              <a:t>Rush orders delivery 300+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0085D1-069E-7678-E4E1-BB18264AF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344229"/>
              </p:ext>
            </p:extLst>
          </p:nvPr>
        </p:nvGraphicFramePr>
        <p:xfrm>
          <a:off x="6186203" y="1397677"/>
          <a:ext cx="5466926" cy="1280939"/>
        </p:xfrm>
        <a:graphic>
          <a:graphicData uri="http://schemas.openxmlformats.org/drawingml/2006/table">
            <a:tbl>
              <a:tblPr firstRow="1" firstCol="1" bandRow="1"/>
              <a:tblGrid>
                <a:gridCol w="744824">
                  <a:extLst>
                    <a:ext uri="{9D8B030D-6E8A-4147-A177-3AD203B41FA5}">
                      <a16:colId xmlns:a16="http://schemas.microsoft.com/office/drawing/2014/main" val="686025579"/>
                    </a:ext>
                  </a:extLst>
                </a:gridCol>
                <a:gridCol w="743984">
                  <a:extLst>
                    <a:ext uri="{9D8B030D-6E8A-4147-A177-3AD203B41FA5}">
                      <a16:colId xmlns:a16="http://schemas.microsoft.com/office/drawing/2014/main" val="2060176610"/>
                    </a:ext>
                  </a:extLst>
                </a:gridCol>
                <a:gridCol w="1002182">
                  <a:extLst>
                    <a:ext uri="{9D8B030D-6E8A-4147-A177-3AD203B41FA5}">
                      <a16:colId xmlns:a16="http://schemas.microsoft.com/office/drawing/2014/main" val="4256221933"/>
                    </a:ext>
                  </a:extLst>
                </a:gridCol>
                <a:gridCol w="743984">
                  <a:extLst>
                    <a:ext uri="{9D8B030D-6E8A-4147-A177-3AD203B41FA5}">
                      <a16:colId xmlns:a16="http://schemas.microsoft.com/office/drawing/2014/main" val="916359316"/>
                    </a:ext>
                  </a:extLst>
                </a:gridCol>
                <a:gridCol w="743984">
                  <a:extLst>
                    <a:ext uri="{9D8B030D-6E8A-4147-A177-3AD203B41FA5}">
                      <a16:colId xmlns:a16="http://schemas.microsoft.com/office/drawing/2014/main" val="2048503974"/>
                    </a:ext>
                  </a:extLst>
                </a:gridCol>
                <a:gridCol w="743984">
                  <a:extLst>
                    <a:ext uri="{9D8B030D-6E8A-4147-A177-3AD203B41FA5}">
                      <a16:colId xmlns:a16="http://schemas.microsoft.com/office/drawing/2014/main" val="3851394340"/>
                    </a:ext>
                  </a:extLst>
                </a:gridCol>
                <a:gridCol w="743984">
                  <a:extLst>
                    <a:ext uri="{9D8B030D-6E8A-4147-A177-3AD203B41FA5}">
                      <a16:colId xmlns:a16="http://schemas.microsoft.com/office/drawing/2014/main" val="1359331346"/>
                    </a:ext>
                  </a:extLst>
                </a:gridCol>
              </a:tblGrid>
              <a:tr h="42697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Aug-26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S&amp;OP II demand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S&amp;OP II Commitment 8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th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Actual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275439"/>
                  </a:ext>
                </a:extLst>
              </a:tr>
              <a:tr h="2134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Line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3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rd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 July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Rollout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Delivery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Rollout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Delivery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WIP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154379"/>
                  </a:ext>
                </a:extLst>
              </a:tr>
              <a:tr h="2134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CV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7681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8223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786175"/>
                  </a:ext>
                </a:extLst>
              </a:tr>
              <a:tr h="2134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Pro X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777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953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927142"/>
                  </a:ext>
                </a:extLst>
              </a:tr>
              <a:tr h="2134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8458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9176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alibri" panose="020F0502020204030204" pitchFamily="34" charset="0"/>
                        </a:rPr>
                        <a:t>227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198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3246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820DD-12FD-923F-43A5-D81EEA39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2BA7A4-E8C3-3A68-236B-2CF085433ABF}"/>
              </a:ext>
            </a:extLst>
          </p:cNvPr>
          <p:cNvSpPr/>
          <p:nvPr/>
        </p:nvSpPr>
        <p:spPr>
          <a:xfrm>
            <a:off x="103239" y="-49102"/>
            <a:ext cx="12088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002060"/>
                </a:solidFill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Aug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’26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..S&amp;OP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demand Commitment &amp; Actuals-Summary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 Display" panose="02110004020202020204"/>
              <a:ea typeface="Segoe UI Symbol" panose="020B0502040204020203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A6407C-084E-5E08-B4BE-88612420D69D}"/>
              </a:ext>
            </a:extLst>
          </p:cNvPr>
          <p:cNvGraphicFramePr>
            <a:graphicFrameLocks noGrp="1"/>
          </p:cNvGraphicFramePr>
          <p:nvPr/>
        </p:nvGraphicFramePr>
        <p:xfrm>
          <a:off x="264924" y="412564"/>
          <a:ext cx="10192566" cy="3004185"/>
        </p:xfrm>
        <a:graphic>
          <a:graphicData uri="http://schemas.openxmlformats.org/drawingml/2006/table">
            <a:tbl>
              <a:tblPr/>
              <a:tblGrid>
                <a:gridCol w="1350623">
                  <a:extLst>
                    <a:ext uri="{9D8B030D-6E8A-4147-A177-3AD203B41FA5}">
                      <a16:colId xmlns:a16="http://schemas.microsoft.com/office/drawing/2014/main" val="2067326132"/>
                    </a:ext>
                  </a:extLst>
                </a:gridCol>
                <a:gridCol w="930681">
                  <a:extLst>
                    <a:ext uri="{9D8B030D-6E8A-4147-A177-3AD203B41FA5}">
                      <a16:colId xmlns:a16="http://schemas.microsoft.com/office/drawing/2014/main" val="3730763768"/>
                    </a:ext>
                  </a:extLst>
                </a:gridCol>
                <a:gridCol w="862582">
                  <a:extLst>
                    <a:ext uri="{9D8B030D-6E8A-4147-A177-3AD203B41FA5}">
                      <a16:colId xmlns:a16="http://schemas.microsoft.com/office/drawing/2014/main" val="1768367381"/>
                    </a:ext>
                  </a:extLst>
                </a:gridCol>
                <a:gridCol w="1115115">
                  <a:extLst>
                    <a:ext uri="{9D8B030D-6E8A-4147-A177-3AD203B41FA5}">
                      <a16:colId xmlns:a16="http://schemas.microsoft.com/office/drawing/2014/main" val="801547631"/>
                    </a:ext>
                  </a:extLst>
                </a:gridCol>
                <a:gridCol w="919331">
                  <a:extLst>
                    <a:ext uri="{9D8B030D-6E8A-4147-A177-3AD203B41FA5}">
                      <a16:colId xmlns:a16="http://schemas.microsoft.com/office/drawing/2014/main" val="103851386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98306509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52120967"/>
                    </a:ext>
                  </a:extLst>
                </a:gridCol>
                <a:gridCol w="147546">
                  <a:extLst>
                    <a:ext uri="{9D8B030D-6E8A-4147-A177-3AD203B41FA5}">
                      <a16:colId xmlns:a16="http://schemas.microsoft.com/office/drawing/2014/main" val="173181233"/>
                    </a:ext>
                  </a:extLst>
                </a:gridCol>
                <a:gridCol w="3586528">
                  <a:extLst>
                    <a:ext uri="{9D8B030D-6E8A-4147-A177-3AD203B41FA5}">
                      <a16:colId xmlns:a16="http://schemas.microsoft.com/office/drawing/2014/main" val="3546498441"/>
                    </a:ext>
                  </a:extLst>
                </a:gridCol>
              </a:tblGrid>
              <a:tr h="38037"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Category 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S&amp;OP-1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S&amp;OP-2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S&amp;OP-2</a:t>
                      </a:r>
                      <a:b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Delivery Commitment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EMT 25th Outlook-Delivery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Actual Delivery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Actual Rollout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533136"/>
                  </a:ext>
                </a:extLst>
              </a:tr>
              <a:tr h="665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405159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Trucks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05748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Trucks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770376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Mkt Cowl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784170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Mkt Cowl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039536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DOM Bus Plant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288366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190800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JCBL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17040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 Bus Plant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777067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Exports Trucks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8384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IS- Buses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93062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Trucks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82969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NPI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250242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8015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8210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8216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7674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334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A75717-6952-3D11-1575-FE42EF0480DF}"/>
              </a:ext>
            </a:extLst>
          </p:cNvPr>
          <p:cNvGraphicFramePr>
            <a:graphicFrameLocks noGrp="1"/>
          </p:cNvGraphicFramePr>
          <p:nvPr/>
        </p:nvGraphicFramePr>
        <p:xfrm>
          <a:off x="280690" y="4124713"/>
          <a:ext cx="8243652" cy="2179320"/>
        </p:xfrm>
        <a:graphic>
          <a:graphicData uri="http://schemas.openxmlformats.org/drawingml/2006/table">
            <a:tbl>
              <a:tblPr firstRow="1" firstCol="1" bandRow="1"/>
              <a:tblGrid>
                <a:gridCol w="1371600">
                  <a:extLst>
                    <a:ext uri="{9D8B030D-6E8A-4147-A177-3AD203B41FA5}">
                      <a16:colId xmlns:a16="http://schemas.microsoft.com/office/drawing/2014/main" val="1553355254"/>
                    </a:ext>
                  </a:extLst>
                </a:gridCol>
                <a:gridCol w="1067749">
                  <a:extLst>
                    <a:ext uri="{9D8B030D-6E8A-4147-A177-3AD203B41FA5}">
                      <a16:colId xmlns:a16="http://schemas.microsoft.com/office/drawing/2014/main" val="894262685"/>
                    </a:ext>
                  </a:extLst>
                </a:gridCol>
                <a:gridCol w="901526">
                  <a:extLst>
                    <a:ext uri="{9D8B030D-6E8A-4147-A177-3AD203B41FA5}">
                      <a16:colId xmlns:a16="http://schemas.microsoft.com/office/drawing/2014/main" val="1141501817"/>
                    </a:ext>
                  </a:extLst>
                </a:gridCol>
                <a:gridCol w="935673">
                  <a:extLst>
                    <a:ext uri="{9D8B030D-6E8A-4147-A177-3AD203B41FA5}">
                      <a16:colId xmlns:a16="http://schemas.microsoft.com/office/drawing/2014/main" val="3502930205"/>
                    </a:ext>
                  </a:extLst>
                </a:gridCol>
                <a:gridCol w="1955424">
                  <a:extLst>
                    <a:ext uri="{9D8B030D-6E8A-4147-A177-3AD203B41FA5}">
                      <a16:colId xmlns:a16="http://schemas.microsoft.com/office/drawing/2014/main" val="11459424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70304430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 X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Engine/Battery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Demand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Commitment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Actual Delivery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Remarks</a:t>
                      </a:r>
                      <a:endParaRPr lang="en-US" sz="1100"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713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(For Sales)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6146"/>
                  </a:ext>
                </a:extLst>
              </a:tr>
              <a:tr h="25454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10.8ft (XL)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DSL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371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366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361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10- NPI Project- delayed rollout</a:t>
                      </a:r>
                      <a:endParaRPr lang="en-US" sz="1100"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7411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CNG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Frame short</a:t>
                      </a:r>
                      <a:endParaRPr lang="en-US" sz="1100"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11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387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382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361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91348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9.8ft (XS)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DSL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233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233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233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82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CNG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Frame short</a:t>
                      </a:r>
                      <a:endParaRPr lang="en-US" sz="1100"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490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249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249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233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15728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 X EV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EV- 32KW- MR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Frame short</a:t>
                      </a:r>
                      <a:endParaRPr lang="en-US" sz="1100"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519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EV-40KW-LR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Frame short</a:t>
                      </a:r>
                      <a:endParaRPr lang="en-US" sz="1100"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6448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132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95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4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06784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Grand Total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768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726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595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3587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AE0BA41-CB4F-CA62-084F-1D968A2DC329}"/>
              </a:ext>
            </a:extLst>
          </p:cNvPr>
          <p:cNvSpPr txBox="1"/>
          <p:nvPr/>
        </p:nvSpPr>
        <p:spPr>
          <a:xfrm>
            <a:off x="264924" y="3531855"/>
            <a:ext cx="2664374" cy="5539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0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Pro X </a:t>
            </a:r>
          </a:p>
          <a:p>
            <a:pPr marL="0" marR="0">
              <a:buNone/>
            </a:pPr>
            <a:r>
              <a:rPr lang="en-US" sz="10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Rollout Commitment-1100/Actual- 777</a:t>
            </a:r>
          </a:p>
          <a:p>
            <a:r>
              <a:rPr lang="en-US" sz="1000" b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Delivery </a:t>
            </a:r>
            <a:r>
              <a:rPr lang="en-US" sz="10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Commitment </a:t>
            </a:r>
            <a:r>
              <a:rPr lang="en-US" sz="1000" b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-1163/Actual -939</a:t>
            </a:r>
            <a:endParaRPr lang="en-US" sz="1200" b="1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271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16FADA46-2E92-D963-0197-82943EB0DC6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rcRect l="4173"/>
          <a:stretch>
            <a:fillRect/>
          </a:stretch>
        </p:blipFill>
        <p:spPr>
          <a:xfrm>
            <a:off x="0" y="26944"/>
            <a:ext cx="12191999" cy="6831056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EB36ACB-9806-07F7-0A5F-0B899AF79B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09570"/>
              </p:ext>
            </p:extLst>
          </p:nvPr>
        </p:nvGraphicFramePr>
        <p:xfrm>
          <a:off x="88489" y="1419962"/>
          <a:ext cx="11453937" cy="3541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61634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25B2FD-0A62-467C-F60F-A1FE0C0294A3}"/>
              </a:ext>
            </a:extLst>
          </p:cNvPr>
          <p:cNvSpPr/>
          <p:nvPr/>
        </p:nvSpPr>
        <p:spPr>
          <a:xfrm>
            <a:off x="33636" y="30926"/>
            <a:ext cx="11538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895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 – FY’27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616161">
                    <a:lumMod val="50000"/>
                  </a:srgbClr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Roadmap Sep-26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16161">
                    <a:lumMod val="50000"/>
                  </a:srgbClr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2400" b="1">
                <a:solidFill>
                  <a:srgbClr val="616161">
                    <a:lumMod val="50000"/>
                  </a:srgb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616161">
                    <a:lumMod val="50000"/>
                  </a:srgbClr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-26……..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616161">
                  <a:lumMod val="50000"/>
                </a:srgbClr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766D50-7FDE-CE7C-BC83-2846E013C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660315"/>
              </p:ext>
            </p:extLst>
          </p:nvPr>
        </p:nvGraphicFramePr>
        <p:xfrm>
          <a:off x="33636" y="791527"/>
          <a:ext cx="12018455" cy="1712530"/>
        </p:xfrm>
        <a:graphic>
          <a:graphicData uri="http://schemas.openxmlformats.org/drawingml/2006/table">
            <a:tbl>
              <a:tblPr/>
              <a:tblGrid>
                <a:gridCol w="689978">
                  <a:extLst>
                    <a:ext uri="{9D8B030D-6E8A-4147-A177-3AD203B41FA5}">
                      <a16:colId xmlns:a16="http://schemas.microsoft.com/office/drawing/2014/main" val="1496037332"/>
                    </a:ext>
                  </a:extLst>
                </a:gridCol>
                <a:gridCol w="545564">
                  <a:extLst>
                    <a:ext uri="{9D8B030D-6E8A-4147-A177-3AD203B41FA5}">
                      <a16:colId xmlns:a16="http://schemas.microsoft.com/office/drawing/2014/main" val="978538801"/>
                    </a:ext>
                  </a:extLst>
                </a:gridCol>
                <a:gridCol w="738116">
                  <a:extLst>
                    <a:ext uri="{9D8B030D-6E8A-4147-A177-3AD203B41FA5}">
                      <a16:colId xmlns:a16="http://schemas.microsoft.com/office/drawing/2014/main" val="3414747237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655953011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54716225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679118569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3805709415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3442527680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649499096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4121934148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04293062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385496918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36748215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106698052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3810706231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2179833279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2076479393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4055290543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637727081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3354835832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119601676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541691209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3719121354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091346261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015914290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2978350376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485970499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4252331222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1025540976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2954661173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3686637284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566555740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2964754980"/>
                    </a:ext>
                  </a:extLst>
                </a:gridCol>
                <a:gridCol w="304874">
                  <a:extLst>
                    <a:ext uri="{9D8B030D-6E8A-4147-A177-3AD203B41FA5}">
                      <a16:colId xmlns:a16="http://schemas.microsoft.com/office/drawing/2014/main" val="3562542326"/>
                    </a:ext>
                  </a:extLst>
                </a:gridCol>
                <a:gridCol w="593703">
                  <a:extLst>
                    <a:ext uri="{9D8B030D-6E8A-4147-A177-3AD203B41FA5}">
                      <a16:colId xmlns:a16="http://schemas.microsoft.com/office/drawing/2014/main" val="839768349"/>
                    </a:ext>
                  </a:extLst>
                </a:gridCol>
              </a:tblGrid>
              <a:tr h="3425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Days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Shift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108248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Sep-26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3-3-3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437435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Oct-26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3-3-3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078394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Nov-26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3-3-3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DI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WA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LI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563183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3-3-3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42679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69836AA-CC63-19E6-C79F-E2ED1F59D272}"/>
              </a:ext>
            </a:extLst>
          </p:cNvPr>
          <p:cNvGraphicFramePr>
            <a:graphicFrameLocks noGrp="1"/>
          </p:cNvGraphicFramePr>
          <p:nvPr/>
        </p:nvGraphicFramePr>
        <p:xfrm>
          <a:off x="33636" y="2695769"/>
          <a:ext cx="12018455" cy="800100"/>
        </p:xfrm>
        <a:graphic>
          <a:graphicData uri="http://schemas.openxmlformats.org/drawingml/2006/table">
            <a:tbl>
              <a:tblPr/>
              <a:tblGrid>
                <a:gridCol w="713365">
                  <a:extLst>
                    <a:ext uri="{9D8B030D-6E8A-4147-A177-3AD203B41FA5}">
                      <a16:colId xmlns:a16="http://schemas.microsoft.com/office/drawing/2014/main" val="295765319"/>
                    </a:ext>
                  </a:extLst>
                </a:gridCol>
                <a:gridCol w="2105296">
                  <a:extLst>
                    <a:ext uri="{9D8B030D-6E8A-4147-A177-3AD203B41FA5}">
                      <a16:colId xmlns:a16="http://schemas.microsoft.com/office/drawing/2014/main" val="449284325"/>
                    </a:ext>
                  </a:extLst>
                </a:gridCol>
                <a:gridCol w="1722516">
                  <a:extLst>
                    <a:ext uri="{9D8B030D-6E8A-4147-A177-3AD203B41FA5}">
                      <a16:colId xmlns:a16="http://schemas.microsoft.com/office/drawing/2014/main" val="2451001393"/>
                    </a:ext>
                  </a:extLst>
                </a:gridCol>
                <a:gridCol w="1866057">
                  <a:extLst>
                    <a:ext uri="{9D8B030D-6E8A-4147-A177-3AD203B41FA5}">
                      <a16:colId xmlns:a16="http://schemas.microsoft.com/office/drawing/2014/main" val="359423113"/>
                    </a:ext>
                  </a:extLst>
                </a:gridCol>
                <a:gridCol w="1761663">
                  <a:extLst>
                    <a:ext uri="{9D8B030D-6E8A-4147-A177-3AD203B41FA5}">
                      <a16:colId xmlns:a16="http://schemas.microsoft.com/office/drawing/2014/main" val="4067279496"/>
                    </a:ext>
                  </a:extLst>
                </a:gridCol>
                <a:gridCol w="608970">
                  <a:extLst>
                    <a:ext uri="{9D8B030D-6E8A-4147-A177-3AD203B41FA5}">
                      <a16:colId xmlns:a16="http://schemas.microsoft.com/office/drawing/2014/main" val="4234021155"/>
                    </a:ext>
                  </a:extLst>
                </a:gridCol>
                <a:gridCol w="1670317">
                  <a:extLst>
                    <a:ext uri="{9D8B030D-6E8A-4147-A177-3AD203B41FA5}">
                      <a16:colId xmlns:a16="http://schemas.microsoft.com/office/drawing/2014/main" val="1582635542"/>
                    </a:ext>
                  </a:extLst>
                </a:gridCol>
                <a:gridCol w="591570">
                  <a:extLst>
                    <a:ext uri="{9D8B030D-6E8A-4147-A177-3AD203B41FA5}">
                      <a16:colId xmlns:a16="http://schemas.microsoft.com/office/drawing/2014/main" val="3139651939"/>
                    </a:ext>
                  </a:extLst>
                </a:gridCol>
                <a:gridCol w="978701">
                  <a:extLst>
                    <a:ext uri="{9D8B030D-6E8A-4147-A177-3AD203B41FA5}">
                      <a16:colId xmlns:a16="http://schemas.microsoft.com/office/drawing/2014/main" val="3642136953"/>
                    </a:ext>
                  </a:extLst>
                </a:gridCol>
              </a:tblGrid>
              <a:tr h="154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Aug-26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Sep-26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Oct-26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Nov-26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Jan-27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Feb-27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965505"/>
                  </a:ext>
                </a:extLst>
              </a:tr>
              <a:tr h="3080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Holidays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Independence day (15th)</a:t>
                      </a:r>
                      <a:b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Raksha Bandhan (28th)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Janmashtami (04th)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Gandhi Jayanti (02nd)</a:t>
                      </a:r>
                      <a:b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Dusshera (20th)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Diwali (7th to 10th)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Republic Day (26th)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Holi (22nd)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184382"/>
                  </a:ext>
                </a:extLst>
              </a:tr>
              <a:tr h="2711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Saturday</a:t>
                      </a:r>
                      <a:b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</a:t>
                      </a:r>
                      <a:b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Tuesday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Saturday to</a:t>
                      </a:r>
                      <a:b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Tuesday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Tuesday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3101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C787815-DD2A-0E7A-2189-1290107B691C}"/>
              </a:ext>
            </a:extLst>
          </p:cNvPr>
          <p:cNvSpPr txBox="1"/>
          <p:nvPr/>
        </p:nvSpPr>
        <p:spPr>
          <a:xfrm>
            <a:off x="33636" y="3576412"/>
            <a:ext cx="172021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BBA278-96D2-74DA-BDBA-CFF4F4C1A73B}"/>
              </a:ext>
            </a:extLst>
          </p:cNvPr>
          <p:cNvSpPr txBox="1"/>
          <p:nvPr/>
        </p:nvSpPr>
        <p:spPr>
          <a:xfrm>
            <a:off x="33635" y="3969822"/>
            <a:ext cx="9394143" cy="19389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ea typeface="Calibri" panose="020F0502020204030204" pitchFamily="34" charset="0"/>
                <a:cs typeface="Calibri" panose="020F0502020204030204" pitchFamily="34" charset="0"/>
              </a:rPr>
              <a:t>Suppliers impacting under close monitoring 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>
                <a:ea typeface="Calibri" panose="020F0502020204030204" pitchFamily="34" charset="0"/>
                <a:cs typeface="Calibri" panose="020F0502020204030204" pitchFamily="34" charset="0"/>
              </a:rPr>
              <a:t>Current rate – 325/Day………...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>
                <a:ea typeface="Calibri" panose="020F0502020204030204" pitchFamily="34" charset="0"/>
                <a:cs typeface="Calibri" panose="020F0502020204030204" pitchFamily="34" charset="0"/>
              </a:rPr>
              <a:t>JBM (cabin parts), Baxy, EECD, RKFL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>
                <a:ea typeface="Calibri" panose="020F0502020204030204" pitchFamily="34" charset="0"/>
                <a:cs typeface="Calibri" panose="020F0502020204030204" pitchFamily="34" charset="0"/>
              </a:rPr>
              <a:t>ZF parts,(Compressor  &amp; Stg GB) Jai Hind, Tata Toyo,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ea typeface="Calibri" panose="020F0502020204030204" pitchFamily="34" charset="0"/>
                <a:cs typeface="Calibri" panose="020F0502020204030204" pitchFamily="34" charset="0"/>
              </a:rPr>
              <a:t>Pro X … ..Frame, AC Parts, Cabin. RA Shaft ,  Model changeover setting time for frame –impacting Stocking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ea typeface="Calibri" panose="020F0502020204030204" pitchFamily="34" charset="0"/>
                <a:cs typeface="Calibri" panose="020F0502020204030204" pitchFamily="34" charset="0"/>
              </a:rPr>
              <a:t>Machine shop capacity at stretch (Being managed thru Sunday Operation)..Cyl block, 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ea typeface="Calibri" panose="020F0502020204030204" pitchFamily="34" charset="0"/>
                <a:cs typeface="Calibri" panose="020F0502020204030204" pitchFamily="34" charset="0"/>
              </a:rPr>
              <a:t>Manpower availability/ Festive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ea typeface="Calibri" panose="020F0502020204030204" pitchFamily="34" charset="0"/>
                <a:cs typeface="Calibri" panose="020F0502020204030204" pitchFamily="34" charset="0"/>
              </a:rPr>
              <a:t>Belmaks Cargo Body  rate to gear up( Current need-100/Day)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ea typeface="Calibri" panose="020F0502020204030204" pitchFamily="34" charset="0"/>
                <a:cs typeface="Calibri" panose="020F0502020204030204" pitchFamily="34" charset="0"/>
              </a:rPr>
              <a:t>Yard  &amp; Line Congestion situation at Pithampur &amp; Bhopal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ea typeface="Calibri" panose="020F0502020204030204" pitchFamily="34" charset="0"/>
                <a:cs typeface="Calibri" panose="020F0502020204030204" pitchFamily="34" charset="0"/>
              </a:rPr>
              <a:t>Yard  for  Pro X Stocking</a:t>
            </a:r>
          </a:p>
        </p:txBody>
      </p:sp>
    </p:spTree>
    <p:extLst>
      <p:ext uri="{BB962C8B-B14F-4D97-AF65-F5344CB8AC3E}">
        <p14:creationId xmlns:p14="http://schemas.microsoft.com/office/powerpoint/2010/main" val="3512650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40970-6152-B127-6E1B-6ECA324D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1309ED-3773-A304-9C24-59A4424B3A94}"/>
              </a:ext>
            </a:extLst>
          </p:cNvPr>
          <p:cNvSpPr/>
          <p:nvPr/>
        </p:nvSpPr>
        <p:spPr>
          <a:xfrm>
            <a:off x="13835" y="5704"/>
            <a:ext cx="1177943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VEPT Delivery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4E16F4-5BC1-A647-CEDC-7A6E98387CDD}"/>
              </a:ext>
            </a:extLst>
          </p:cNvPr>
          <p:cNvSpPr/>
          <p:nvPr/>
        </p:nvSpPr>
        <p:spPr>
          <a:xfrm>
            <a:off x="190500" y="3101306"/>
            <a:ext cx="4686300" cy="338554"/>
          </a:xfrm>
          <a:prstGeom prst="rect">
            <a:avLst/>
          </a:prstGeom>
          <a:solidFill>
            <a:srgbClr val="D9E1F2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Highlights </a:t>
            </a:r>
            <a:r>
              <a:rPr lang="en-US" sz="1600" b="1" kern="0" dirty="0">
                <a:solidFill>
                  <a:prstClr val="black"/>
                </a:solidFill>
                <a:latin typeface="Calibri"/>
                <a:cs typeface="Calibri"/>
              </a:rPr>
              <a:t>YTD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’27 &amp; FY’27 (BP Vs. Outlook)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1A5ABF-A5ED-832F-0E21-8C2EB0BF1707}"/>
              </a:ext>
            </a:extLst>
          </p:cNvPr>
          <p:cNvGraphicFramePr>
            <a:graphicFrameLocks noGrp="1"/>
          </p:cNvGraphicFramePr>
          <p:nvPr/>
        </p:nvGraphicFramePr>
        <p:xfrm>
          <a:off x="5105401" y="3101305"/>
          <a:ext cx="6864535" cy="3198434"/>
        </p:xfrm>
        <a:graphic>
          <a:graphicData uri="http://schemas.openxmlformats.org/drawingml/2006/table">
            <a:tbl>
              <a:tblPr/>
              <a:tblGrid>
                <a:gridCol w="1007648">
                  <a:extLst>
                    <a:ext uri="{9D8B030D-6E8A-4147-A177-3AD203B41FA5}">
                      <a16:colId xmlns:a16="http://schemas.microsoft.com/office/drawing/2014/main" val="2791692049"/>
                    </a:ext>
                  </a:extLst>
                </a:gridCol>
                <a:gridCol w="1176739">
                  <a:extLst>
                    <a:ext uri="{9D8B030D-6E8A-4147-A177-3AD203B41FA5}">
                      <a16:colId xmlns:a16="http://schemas.microsoft.com/office/drawing/2014/main" val="1485936988"/>
                    </a:ext>
                  </a:extLst>
                </a:gridCol>
                <a:gridCol w="1176739">
                  <a:extLst>
                    <a:ext uri="{9D8B030D-6E8A-4147-A177-3AD203B41FA5}">
                      <a16:colId xmlns:a16="http://schemas.microsoft.com/office/drawing/2014/main" val="356457945"/>
                    </a:ext>
                  </a:extLst>
                </a:gridCol>
                <a:gridCol w="1167803">
                  <a:extLst>
                    <a:ext uri="{9D8B030D-6E8A-4147-A177-3AD203B41FA5}">
                      <a16:colId xmlns:a16="http://schemas.microsoft.com/office/drawing/2014/main" val="2865071179"/>
                    </a:ext>
                  </a:extLst>
                </a:gridCol>
                <a:gridCol w="1167803">
                  <a:extLst>
                    <a:ext uri="{9D8B030D-6E8A-4147-A177-3AD203B41FA5}">
                      <a16:colId xmlns:a16="http://schemas.microsoft.com/office/drawing/2014/main" val="2447449950"/>
                    </a:ext>
                  </a:extLst>
                </a:gridCol>
                <a:gridCol w="1167803">
                  <a:extLst>
                    <a:ext uri="{9D8B030D-6E8A-4147-A177-3AD203B41FA5}">
                      <a16:colId xmlns:a16="http://schemas.microsoft.com/office/drawing/2014/main" val="500220918"/>
                    </a:ext>
                  </a:extLst>
                </a:gridCol>
              </a:tblGrid>
              <a:tr h="52943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FY’25 Act.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FY’26 Act.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Customer​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BP FY’27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Outlook’27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BP FY'28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672195"/>
                  </a:ext>
                </a:extLst>
              </a:tr>
              <a:tr h="2922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28333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Venissieux​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23428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22265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622571"/>
                  </a:ext>
                </a:extLst>
              </a:tr>
              <a:tr h="2922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11545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ETB - VECV​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14828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16678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669536"/>
                  </a:ext>
                </a:extLst>
              </a:tr>
              <a:tr h="2922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10429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Curitiba​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9606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10397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797475"/>
                  </a:ext>
                </a:extLst>
              </a:tr>
              <a:tr h="33089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2166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PENTA VE &amp; GE​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4609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5192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771675"/>
                  </a:ext>
                </a:extLst>
              </a:tr>
              <a:tr h="2922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5088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UDT Isuzu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3584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3304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822707"/>
                  </a:ext>
                </a:extLst>
              </a:tr>
              <a:tr h="2922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1332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UDT Japan​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082658"/>
                  </a:ext>
                </a:extLst>
              </a:tr>
              <a:tr h="2922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634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Volvo Bus 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798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577169"/>
                  </a:ext>
                </a:extLst>
              </a:tr>
              <a:tr h="2922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628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VCE​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693432"/>
                  </a:ext>
                </a:extLst>
              </a:tr>
              <a:tr h="2922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60155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Total​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59175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60809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867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483D2AF-5872-577F-2E96-47BC9A88B58D}"/>
              </a:ext>
            </a:extLst>
          </p:cNvPr>
          <p:cNvSpPr txBox="1"/>
          <p:nvPr/>
        </p:nvSpPr>
        <p:spPr>
          <a:xfrm>
            <a:off x="153640" y="3434480"/>
            <a:ext cx="54548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YTD Actual w.r.t BP : 18268 against 18049 </a:t>
            </a:r>
          </a:p>
          <a:p>
            <a:pPr lvl="0">
              <a:defRPr/>
            </a:pPr>
            <a:r>
              <a:rPr lang="en-US" sz="14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</a:p>
          <a:p>
            <a:pPr lvl="0">
              <a:defRPr/>
            </a:pPr>
            <a:endParaRPr lang="en-US" sz="1400" i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r>
              <a:rPr lang="en-US" sz="14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FY’27 Outlook w.r.t BP : 58624 against 59175 </a:t>
            </a:r>
          </a:p>
          <a:p>
            <a:pPr lvl="0">
              <a:defRPr/>
            </a:pPr>
            <a:r>
              <a:rPr lang="en-US" sz="14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903FF3F-A357-D866-6BF0-D64B0344B8D5}"/>
              </a:ext>
            </a:extLst>
          </p:cNvPr>
          <p:cNvSpPr txBox="1">
            <a:spLocks/>
          </p:cNvSpPr>
          <p:nvPr/>
        </p:nvSpPr>
        <p:spPr>
          <a:xfrm>
            <a:off x="9448800" y="6823117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D52136-FF5B-49DF-A3F8-07F62241AA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9C63A2-BA60-B787-F77B-1B6C230BA15A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797759"/>
          <a:ext cx="1536700" cy="1096548"/>
        </p:xfrm>
        <a:graphic>
          <a:graphicData uri="http://schemas.openxmlformats.org/drawingml/2006/table">
            <a:tbl>
              <a:tblPr/>
              <a:tblGrid>
                <a:gridCol w="768350">
                  <a:extLst>
                    <a:ext uri="{9D8B030D-6E8A-4147-A177-3AD203B41FA5}">
                      <a16:colId xmlns:a16="http://schemas.microsoft.com/office/drawing/2014/main" val="189974388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1506162852"/>
                    </a:ext>
                  </a:extLst>
                </a:gridCol>
              </a:tblGrid>
              <a:tr h="182758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Growth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749160"/>
                  </a:ext>
                </a:extLst>
              </a:tr>
              <a:tr h="1827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529641"/>
                  </a:ext>
                </a:extLst>
              </a:tr>
              <a:tr h="1827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VNX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847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458423"/>
                  </a:ext>
                </a:extLst>
              </a:tr>
              <a:tr h="1827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UDT Isuzu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466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710055"/>
                  </a:ext>
                </a:extLst>
              </a:tr>
              <a:tr h="1827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285024"/>
                  </a:ext>
                </a:extLst>
              </a:tr>
              <a:tr h="1827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VBI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51596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D3BA5D2-EBB0-580C-6303-96E7F3812CCD}"/>
              </a:ext>
            </a:extLst>
          </p:cNvPr>
          <p:cNvGraphicFramePr>
            <a:graphicFrameLocks noGrp="1"/>
          </p:cNvGraphicFramePr>
          <p:nvPr/>
        </p:nvGraphicFramePr>
        <p:xfrm>
          <a:off x="2152426" y="3789405"/>
          <a:ext cx="1536700" cy="920750"/>
        </p:xfrm>
        <a:graphic>
          <a:graphicData uri="http://schemas.openxmlformats.org/drawingml/2006/table">
            <a:tbl>
              <a:tblPr/>
              <a:tblGrid>
                <a:gridCol w="768350">
                  <a:extLst>
                    <a:ext uri="{9D8B030D-6E8A-4147-A177-3AD203B41FA5}">
                      <a16:colId xmlns:a16="http://schemas.microsoft.com/office/drawing/2014/main" val="96118675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4076859590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4725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24285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Curitiba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568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8264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Penta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886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4554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Eicher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36516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8288DF2-9BCE-EAD4-744C-DA5DF5682674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5231617"/>
          <a:ext cx="1536700" cy="1005840"/>
        </p:xfrm>
        <a:graphic>
          <a:graphicData uri="http://schemas.openxmlformats.org/drawingml/2006/table">
            <a:tbl>
              <a:tblPr/>
              <a:tblGrid>
                <a:gridCol w="768350">
                  <a:extLst>
                    <a:ext uri="{9D8B030D-6E8A-4147-A177-3AD203B41FA5}">
                      <a16:colId xmlns:a16="http://schemas.microsoft.com/office/drawing/2014/main" val="1144257605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4246458844"/>
                    </a:ext>
                  </a:extLst>
                </a:gridCol>
              </a:tblGrid>
              <a:tr h="14090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Growth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288908"/>
                  </a:ext>
                </a:extLst>
              </a:tr>
              <a:tr h="140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480081"/>
                  </a:ext>
                </a:extLst>
              </a:tr>
              <a:tr h="1409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VNX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2369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52254"/>
                  </a:ext>
                </a:extLst>
              </a:tr>
              <a:tr h="1409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UDT Isuzu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1767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091550"/>
                  </a:ext>
                </a:extLst>
              </a:tr>
              <a:tr h="1409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104404"/>
                  </a:ext>
                </a:extLst>
              </a:tr>
              <a:tr h="1409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VBI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10016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8BCE0D7-16E5-AB6A-4EB3-319076CB56AC}"/>
              </a:ext>
            </a:extLst>
          </p:cNvPr>
          <p:cNvGraphicFramePr>
            <a:graphicFrameLocks noGrp="1"/>
          </p:cNvGraphicFramePr>
          <p:nvPr/>
        </p:nvGraphicFramePr>
        <p:xfrm>
          <a:off x="2145968" y="5231617"/>
          <a:ext cx="1536700" cy="920750"/>
        </p:xfrm>
        <a:graphic>
          <a:graphicData uri="http://schemas.openxmlformats.org/drawingml/2006/table">
            <a:tbl>
              <a:tblPr/>
              <a:tblGrid>
                <a:gridCol w="768350">
                  <a:extLst>
                    <a:ext uri="{9D8B030D-6E8A-4147-A177-3AD203B41FA5}">
                      <a16:colId xmlns:a16="http://schemas.microsoft.com/office/drawing/2014/main" val="2423370174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1754286574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8976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413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Penta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1959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0768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Curitiba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51779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Eicher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1990</a:t>
                      </a:r>
                    </a:p>
                  </a:txBody>
                  <a:tcPr marL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3654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68992F-0774-0358-4517-ABE5D930F6B0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090593"/>
          <a:ext cx="11741332" cy="1777706"/>
        </p:xfrm>
        <a:graphic>
          <a:graphicData uri="http://schemas.openxmlformats.org/drawingml/2006/table">
            <a:tbl>
              <a:tblPr/>
              <a:tblGrid>
                <a:gridCol w="573136">
                  <a:extLst>
                    <a:ext uri="{9D8B030D-6E8A-4147-A177-3AD203B41FA5}">
                      <a16:colId xmlns:a16="http://schemas.microsoft.com/office/drawing/2014/main" val="4142264541"/>
                    </a:ext>
                  </a:extLst>
                </a:gridCol>
                <a:gridCol w="573136">
                  <a:extLst>
                    <a:ext uri="{9D8B030D-6E8A-4147-A177-3AD203B41FA5}">
                      <a16:colId xmlns:a16="http://schemas.microsoft.com/office/drawing/2014/main" val="797037199"/>
                    </a:ext>
                  </a:extLst>
                </a:gridCol>
                <a:gridCol w="573136">
                  <a:extLst>
                    <a:ext uri="{9D8B030D-6E8A-4147-A177-3AD203B41FA5}">
                      <a16:colId xmlns:a16="http://schemas.microsoft.com/office/drawing/2014/main" val="377277210"/>
                    </a:ext>
                  </a:extLst>
                </a:gridCol>
                <a:gridCol w="573136">
                  <a:extLst>
                    <a:ext uri="{9D8B030D-6E8A-4147-A177-3AD203B41FA5}">
                      <a16:colId xmlns:a16="http://schemas.microsoft.com/office/drawing/2014/main" val="2605578294"/>
                    </a:ext>
                  </a:extLst>
                </a:gridCol>
                <a:gridCol w="2021896">
                  <a:extLst>
                    <a:ext uri="{9D8B030D-6E8A-4147-A177-3AD203B41FA5}">
                      <a16:colId xmlns:a16="http://schemas.microsoft.com/office/drawing/2014/main" val="1206568122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2957936604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2528889698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2645485479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3929539766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1561231488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2217085021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115487926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1993631537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1935595033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4283373298"/>
                    </a:ext>
                  </a:extLst>
                </a:gridCol>
                <a:gridCol w="675172">
                  <a:extLst>
                    <a:ext uri="{9D8B030D-6E8A-4147-A177-3AD203B41FA5}">
                      <a16:colId xmlns:a16="http://schemas.microsoft.com/office/drawing/2014/main" val="3304958585"/>
                    </a:ext>
                  </a:extLst>
                </a:gridCol>
              </a:tblGrid>
              <a:tr h="25395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LYTD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YTD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Customers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Aug’26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Sep'26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Oct'26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BP'27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Outlook'27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24729"/>
                  </a:ext>
                </a:extLst>
              </a:tr>
              <a:tr h="2539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BP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Demand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Actual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BP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Demand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Outlook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BP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Demand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Outlook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BP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Demand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Outlook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402027"/>
                  </a:ext>
                </a:extLst>
              </a:tr>
              <a:tr h="2539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7,922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7,933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 Block (Nos.)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23,428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25,797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538699"/>
                  </a:ext>
                </a:extLst>
              </a:tr>
              <a:tr h="2539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3,918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 Assembly (Nos.) - Volvo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15,040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12,278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764654"/>
                  </a:ext>
                </a:extLst>
              </a:tr>
              <a:tr h="2539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 Assembly (Nos.) - Isuzu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6,941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150946"/>
                  </a:ext>
                </a:extLst>
              </a:tr>
              <a:tr h="2539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 Assembly (Nos.) - Eicher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15,533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13,607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001125"/>
                  </a:ext>
                </a:extLst>
              </a:tr>
              <a:tr h="2539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18,177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18,268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17,269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18,049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5,208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4,418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59,175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8890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17C8496-2BD7-6698-6729-EBA6203B7D37}"/>
              </a:ext>
            </a:extLst>
          </p:cNvPr>
          <p:cNvSpPr txBox="1"/>
          <p:nvPr/>
        </p:nvSpPr>
        <p:spPr>
          <a:xfrm>
            <a:off x="228600" y="740766"/>
            <a:ext cx="1173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Aug’26 outlook is 4644 against a demand of 3740.</a:t>
            </a:r>
          </a:p>
        </p:txBody>
      </p:sp>
    </p:spTree>
    <p:extLst>
      <p:ext uri="{BB962C8B-B14F-4D97-AF65-F5344CB8AC3E}">
        <p14:creationId xmlns:p14="http://schemas.microsoft.com/office/powerpoint/2010/main" val="115659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BF6F-593F-10B7-D521-24288169B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48DE3D-662C-6F80-2822-5E77B3319A6F}"/>
              </a:ext>
            </a:extLst>
          </p:cNvPr>
          <p:cNvSpPr/>
          <p:nvPr/>
        </p:nvSpPr>
        <p:spPr>
          <a:xfrm>
            <a:off x="265168" y="58932"/>
            <a:ext cx="11432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Minutes of Meeting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FD332A-31F5-ABC7-3CB3-FA861ED11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789740"/>
              </p:ext>
            </p:extLst>
          </p:nvPr>
        </p:nvGraphicFramePr>
        <p:xfrm>
          <a:off x="265168" y="543040"/>
          <a:ext cx="11556227" cy="4659577"/>
        </p:xfrm>
        <a:graphic>
          <a:graphicData uri="http://schemas.openxmlformats.org/drawingml/2006/table">
            <a:tbl>
              <a:tblPr/>
              <a:tblGrid>
                <a:gridCol w="268040">
                  <a:extLst>
                    <a:ext uri="{9D8B030D-6E8A-4147-A177-3AD203B41FA5}">
                      <a16:colId xmlns:a16="http://schemas.microsoft.com/office/drawing/2014/main" val="2208135986"/>
                    </a:ext>
                  </a:extLst>
                </a:gridCol>
                <a:gridCol w="1027536">
                  <a:extLst>
                    <a:ext uri="{9D8B030D-6E8A-4147-A177-3AD203B41FA5}">
                      <a16:colId xmlns:a16="http://schemas.microsoft.com/office/drawing/2014/main" val="122674535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3724678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13400764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56137131"/>
                    </a:ext>
                  </a:extLst>
                </a:gridCol>
                <a:gridCol w="750891">
                  <a:extLst>
                    <a:ext uri="{9D8B030D-6E8A-4147-A177-3AD203B41FA5}">
                      <a16:colId xmlns:a16="http://schemas.microsoft.com/office/drawing/2014/main" val="4176288510"/>
                    </a:ext>
                  </a:extLst>
                </a:gridCol>
              </a:tblGrid>
              <a:tr h="17790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Sno.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Discussion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Points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Update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Sttaus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Responsible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284726"/>
                  </a:ext>
                </a:extLst>
              </a:tr>
              <a:tr h="177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852582"/>
                  </a:ext>
                </a:extLst>
              </a:tr>
              <a:tr h="34795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4th Aug/25th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20.15 STS Bus order 100 in Aug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Seat supplier approved from pinnacle…Supply challenge 2~3/day from 10th Sep onwards.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Chassis Opening 1/9--24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Madan U/Aslam/RKS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870019"/>
                  </a:ext>
                </a:extLst>
              </a:tr>
              <a:tr h="177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S&amp;OP 1 Sep Demand - 40 in Sep+60 in Oct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Divertic-Finalized, PD to release drawing[R Joshi]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Outlook-30(Sept &amp; 10 Oct)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639170"/>
                  </a:ext>
                </a:extLst>
              </a:tr>
              <a:tr h="17790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2nd June,4,18,25 Aug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3009 RHD - South Africa, Zimbambe &amp; Mozambique </a:t>
                      </a:r>
                      <a:r>
                        <a:rPr lang="en-US" sz="1050" b="0" i="0" u="none" strike="sng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- 97 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 Buses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Window  issue 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42/48 delivered</a:t>
                      </a:r>
                      <a:b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 in Sept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KRK/RK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623366"/>
                  </a:ext>
                </a:extLst>
              </a:tr>
              <a:tr h="2715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50" b="0" i="0" u="none" strike="noStrike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Outlook-48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Aug (Billable 14) + 53 in Sept)…....Billable to increase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877641"/>
                  </a:ext>
                </a:extLst>
              </a:tr>
              <a:tr h="27152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 June,4,18 ,25Aug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3008 LHD – Face lift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Duct now  delivered--6 , Further 5 every alternate  day from 30th Aug 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delivery-1/24(Aug)</a:t>
                      </a:r>
                      <a:b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[Not committed in Sept]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MA/KRK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537941"/>
                  </a:ext>
                </a:extLst>
              </a:tr>
              <a:tr h="177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(40 Buses) – Duct issue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 was-24 Aug/16 Sept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367074"/>
                  </a:ext>
                </a:extLst>
              </a:tr>
              <a:tr h="3479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9th June,4,18 ,25 Aug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PRTC 100 Buses – Design conclude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Fully built-up inspection done .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 committed in Sept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PMO/Nitin B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071470"/>
                  </a:ext>
                </a:extLst>
              </a:tr>
              <a:tr h="27152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r>
                        <a:rPr lang="en-US" sz="105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Aug,18 ,25 Aug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MSRTC-100 veh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Fully Built-up show 10th(Explore preponement), Chassis rolled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7th--Built up Ready for inspection</a:t>
                      </a:r>
                      <a:b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[Built up to plan accordingly]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PMO/Nitin B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958423"/>
                  </a:ext>
                </a:extLst>
              </a:tr>
              <a:tr h="2715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veh ,  structure done+in panneling process. Expected rollout by 7th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777019"/>
                  </a:ext>
                </a:extLst>
              </a:tr>
              <a:tr h="40336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 Jun,4,18,25  Aug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Peo 3008 – STS – </a:t>
                      </a:r>
                      <a:r>
                        <a:rPr lang="en-US" sz="1050" b="0" i="0" u="none" strike="sng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118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nos. to attempt in August….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veh rolled for inspection</a:t>
                      </a:r>
                      <a:b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[Outlook projected-68 Oct/50 Nov]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KRK/Aslam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023195"/>
                  </a:ext>
                </a:extLst>
              </a:tr>
              <a:tr h="1779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21Jul,4,18,25 Aug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2000 Cabin material (JBM)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---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Month Avg-166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PUK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07852"/>
                  </a:ext>
                </a:extLst>
              </a:tr>
              <a:tr h="298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18th/25 Aug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Belmaks Capacity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k capacity will be reviewed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month act-69/day, Needed 93/d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SRC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85409"/>
                  </a:ext>
                </a:extLst>
              </a:tr>
              <a:tr h="3060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18th /25th Aug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Pedal Arm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 supplier to be localized TMBP (PN82626303)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Sample developed, SOP From 1st wk of Nov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KRK</a:t>
                      </a:r>
                    </a:p>
                  </a:txBody>
                  <a:tcPr marL="7385" marR="7385" marT="738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504986"/>
                  </a:ext>
                </a:extLst>
              </a:tr>
              <a:tr h="1779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5" marR="7385" marT="738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5" marR="7385" marT="738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5" marR="7385" marT="738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5" marR="7385" marT="738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5" marR="7385" marT="738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5" marR="7385" marT="738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882986"/>
                  </a:ext>
                </a:extLst>
              </a:tr>
              <a:tr h="35313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02-Jun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Digital report for Imports &amp; critical parts tracker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Process &amp; data architecture shared with IT team. Web craft working on it – expected by </a:t>
                      </a:r>
                      <a:r>
                        <a:rPr lang="en-US" sz="1050" b="0" i="0" u="none" strike="sng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r>
                        <a:rPr lang="en-US" sz="1050" b="0" i="0" u="none" strike="sng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050" b="0" i="0" u="none" strike="sng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July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30</a:t>
                      </a:r>
                      <a:r>
                        <a:rPr lang="en-US" sz="105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July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35548"/>
                  </a:ext>
                </a:extLst>
              </a:tr>
              <a:tr h="2715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Development done – Commercial settlement  to be done ( in Process with IT)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385" marR="7385" marT="738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724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591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0BDE28-6AB9-B4B9-5091-E4CE5A13E81E}"/>
              </a:ext>
            </a:extLst>
          </p:cNvPr>
          <p:cNvGraphicFramePr>
            <a:graphicFrameLocks noGrp="1"/>
          </p:cNvGraphicFramePr>
          <p:nvPr/>
        </p:nvGraphicFramePr>
        <p:xfrm>
          <a:off x="114206" y="428406"/>
          <a:ext cx="11222532" cy="5428080"/>
        </p:xfrm>
        <a:graphic>
          <a:graphicData uri="http://schemas.openxmlformats.org/drawingml/2006/table">
            <a:tbl>
              <a:tblPr/>
              <a:tblGrid>
                <a:gridCol w="541228">
                  <a:extLst>
                    <a:ext uri="{9D8B030D-6E8A-4147-A177-3AD203B41FA5}">
                      <a16:colId xmlns:a16="http://schemas.microsoft.com/office/drawing/2014/main" val="312340718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779129086"/>
                    </a:ext>
                  </a:extLst>
                </a:gridCol>
                <a:gridCol w="1093652">
                  <a:extLst>
                    <a:ext uri="{9D8B030D-6E8A-4147-A177-3AD203B41FA5}">
                      <a16:colId xmlns:a16="http://schemas.microsoft.com/office/drawing/2014/main" val="2625336949"/>
                    </a:ext>
                  </a:extLst>
                </a:gridCol>
                <a:gridCol w="898634">
                  <a:extLst>
                    <a:ext uri="{9D8B030D-6E8A-4147-A177-3AD203B41FA5}">
                      <a16:colId xmlns:a16="http://schemas.microsoft.com/office/drawing/2014/main" val="2904963574"/>
                    </a:ext>
                  </a:extLst>
                </a:gridCol>
                <a:gridCol w="465659">
                  <a:extLst>
                    <a:ext uri="{9D8B030D-6E8A-4147-A177-3AD203B41FA5}">
                      <a16:colId xmlns:a16="http://schemas.microsoft.com/office/drawing/2014/main" val="526944463"/>
                    </a:ext>
                  </a:extLst>
                </a:gridCol>
                <a:gridCol w="587257">
                  <a:extLst>
                    <a:ext uri="{9D8B030D-6E8A-4147-A177-3AD203B41FA5}">
                      <a16:colId xmlns:a16="http://schemas.microsoft.com/office/drawing/2014/main" val="426788849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462993301"/>
                    </a:ext>
                  </a:extLst>
                </a:gridCol>
                <a:gridCol w="35761">
                  <a:extLst>
                    <a:ext uri="{9D8B030D-6E8A-4147-A177-3AD203B41FA5}">
                      <a16:colId xmlns:a16="http://schemas.microsoft.com/office/drawing/2014/main" val="2499270194"/>
                    </a:ext>
                  </a:extLst>
                </a:gridCol>
                <a:gridCol w="138902">
                  <a:extLst>
                    <a:ext uri="{9D8B030D-6E8A-4147-A177-3AD203B41FA5}">
                      <a16:colId xmlns:a16="http://schemas.microsoft.com/office/drawing/2014/main" val="4123629047"/>
                    </a:ext>
                  </a:extLst>
                </a:gridCol>
                <a:gridCol w="516064">
                  <a:extLst>
                    <a:ext uri="{9D8B030D-6E8A-4147-A177-3AD203B41FA5}">
                      <a16:colId xmlns:a16="http://schemas.microsoft.com/office/drawing/2014/main" val="2215820693"/>
                    </a:ext>
                  </a:extLst>
                </a:gridCol>
                <a:gridCol w="451606">
                  <a:extLst>
                    <a:ext uri="{9D8B030D-6E8A-4147-A177-3AD203B41FA5}">
                      <a16:colId xmlns:a16="http://schemas.microsoft.com/office/drawing/2014/main" val="984829599"/>
                    </a:ext>
                  </a:extLst>
                </a:gridCol>
                <a:gridCol w="451606">
                  <a:extLst>
                    <a:ext uri="{9D8B030D-6E8A-4147-A177-3AD203B41FA5}">
                      <a16:colId xmlns:a16="http://schemas.microsoft.com/office/drawing/2014/main" val="195493212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40299978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356090019"/>
                    </a:ext>
                  </a:extLst>
                </a:gridCol>
                <a:gridCol w="504952">
                  <a:extLst>
                    <a:ext uri="{9D8B030D-6E8A-4147-A177-3AD203B41FA5}">
                      <a16:colId xmlns:a16="http://schemas.microsoft.com/office/drawing/2014/main" val="1467145209"/>
                    </a:ext>
                  </a:extLst>
                </a:gridCol>
                <a:gridCol w="470027">
                  <a:extLst>
                    <a:ext uri="{9D8B030D-6E8A-4147-A177-3AD203B41FA5}">
                      <a16:colId xmlns:a16="http://schemas.microsoft.com/office/drawing/2014/main" val="1412903107"/>
                    </a:ext>
                  </a:extLst>
                </a:gridCol>
                <a:gridCol w="504952">
                  <a:extLst>
                    <a:ext uri="{9D8B030D-6E8A-4147-A177-3AD203B41FA5}">
                      <a16:colId xmlns:a16="http://schemas.microsoft.com/office/drawing/2014/main" val="3085231026"/>
                    </a:ext>
                  </a:extLst>
                </a:gridCol>
                <a:gridCol w="637032">
                  <a:extLst>
                    <a:ext uri="{9D8B030D-6E8A-4147-A177-3AD203B41FA5}">
                      <a16:colId xmlns:a16="http://schemas.microsoft.com/office/drawing/2014/main" val="140362370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95842239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47793484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520338278"/>
                    </a:ext>
                  </a:extLst>
                </a:gridCol>
              </a:tblGrid>
              <a:tr h="25327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Country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 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 1 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S&amp;Op2 Aug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Opn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Delivery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751821"/>
                  </a:ext>
                </a:extLst>
              </a:tr>
              <a:tr h="1266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Aug-26 Plan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Actual 27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Oct-26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321691"/>
                  </a:ext>
                </a:extLst>
              </a:tr>
              <a:tr h="1266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20th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25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27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25</a:t>
                      </a:r>
                      <a:r>
                        <a:rPr lang="en-US" sz="12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26</a:t>
                      </a:r>
                      <a:r>
                        <a:rPr lang="en-US" sz="12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27</a:t>
                      </a:r>
                      <a:r>
                        <a:rPr lang="en-US" sz="12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  <a:r>
                        <a:rPr lang="en-US" sz="12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8h</a:t>
                      </a: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~31</a:t>
                      </a:r>
                      <a:r>
                        <a:rPr lang="en-US" sz="12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080304"/>
                  </a:ext>
                </a:extLst>
              </a:tr>
              <a:tr h="253277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LHD-STS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24 - 20th Jun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 – 18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July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24+100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24+100 Add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728300"/>
                  </a:ext>
                </a:extLst>
              </a:tr>
              <a:tr h="2532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 E3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Libya, Oman, Ghana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19 - 18th May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20 - 3rd July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035700"/>
                  </a:ext>
                </a:extLst>
              </a:tr>
              <a:tr h="321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 E4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27 - 18th May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14 - 3rd July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 – 4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41+75 Add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12~25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50~75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30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95157"/>
                  </a:ext>
                </a:extLst>
              </a:tr>
              <a:tr h="1266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 E5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Qatar, Saudi 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19 - 16th May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5191"/>
                  </a:ext>
                </a:extLst>
              </a:tr>
              <a:tr h="1360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24+197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12~25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118~143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31165"/>
                  </a:ext>
                </a:extLst>
              </a:tr>
              <a:tr h="253277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3000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3008 LHD E4-STS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68 - 21st May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 – 18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July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44629"/>
                  </a:ext>
                </a:extLst>
              </a:tr>
              <a:tr h="759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Sky pro RHD SA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South A, Zimbabwe, Mozambique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 – 17th Apr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 – 28th Apr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– 4th May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 – 14th May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27 - 20th Jun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– 4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89184"/>
                  </a:ext>
                </a:extLst>
              </a:tr>
              <a:tr h="1266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3008 RHD E4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Srilanka (MGX)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12 - 30th Apr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147256"/>
                  </a:ext>
                </a:extLst>
              </a:tr>
              <a:tr h="3799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3008 LHD E5 (Face Lift)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Qatar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 – 18th May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 – 20th May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– 3rd Jun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4661"/>
                  </a:ext>
                </a:extLst>
              </a:tr>
              <a:tr h="1266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198589"/>
                  </a:ext>
                </a:extLst>
              </a:tr>
              <a:tr h="25327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Starline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Starline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Zambia, Tanzania, Nepal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 – 18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July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915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24+487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225~250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4341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78323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CB584CB-0C18-4653-769B-C7EF9C7374D2}"/>
              </a:ext>
            </a:extLst>
          </p:cNvPr>
          <p:cNvSpPr/>
          <p:nvPr/>
        </p:nvSpPr>
        <p:spPr>
          <a:xfrm>
            <a:off x="131378" y="12237"/>
            <a:ext cx="11929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Built-up Export Buses status….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Aug`26</a:t>
            </a:r>
          </a:p>
        </p:txBody>
      </p:sp>
    </p:spTree>
    <p:extLst>
      <p:ext uri="{BB962C8B-B14F-4D97-AF65-F5344CB8AC3E}">
        <p14:creationId xmlns:p14="http://schemas.microsoft.com/office/powerpoint/2010/main" val="110952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A8F786-8B62-D19F-43E2-7F9D39E80396}"/>
              </a:ext>
            </a:extLst>
          </p:cNvPr>
          <p:cNvSpPr/>
          <p:nvPr/>
        </p:nvSpPr>
        <p:spPr>
          <a:xfrm>
            <a:off x="13835" y="5704"/>
            <a:ext cx="1177943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cs typeface="Calibri" panose="020F0502020204030204" pitchFamily="34" charset="0"/>
              </a:rPr>
              <a:t>S&amp;</a:t>
            </a:r>
            <a:r>
              <a:rPr kumimoji="0" lang="en-US" sz="2000" b="1" i="0" u="sng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cs typeface="Calibri" panose="020F0502020204030204" pitchFamily="34" charset="0"/>
              </a:rPr>
              <a:t>OP I Sep-26</a:t>
            </a:r>
            <a:endParaRPr lang="en-US" sz="2000" b="1" u="sng" dirty="0">
              <a:solidFill>
                <a:srgbClr val="002060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A3E1B9-89D0-441C-1865-243A9ABF3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44170"/>
              </p:ext>
            </p:extLst>
          </p:nvPr>
        </p:nvGraphicFramePr>
        <p:xfrm>
          <a:off x="223397" y="595916"/>
          <a:ext cx="4438664" cy="5331913"/>
        </p:xfrm>
        <a:graphic>
          <a:graphicData uri="http://schemas.openxmlformats.org/drawingml/2006/table">
            <a:tbl>
              <a:tblPr/>
              <a:tblGrid>
                <a:gridCol w="1727007">
                  <a:extLst>
                    <a:ext uri="{9D8B030D-6E8A-4147-A177-3AD203B41FA5}">
                      <a16:colId xmlns:a16="http://schemas.microsoft.com/office/drawing/2014/main" val="357871594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904502104"/>
                    </a:ext>
                  </a:extLst>
                </a:gridCol>
                <a:gridCol w="75087">
                  <a:extLst>
                    <a:ext uri="{9D8B030D-6E8A-4147-A177-3AD203B41FA5}">
                      <a16:colId xmlns:a16="http://schemas.microsoft.com/office/drawing/2014/main" val="1960772784"/>
                    </a:ext>
                  </a:extLst>
                </a:gridCol>
                <a:gridCol w="788416">
                  <a:extLst>
                    <a:ext uri="{9D8B030D-6E8A-4147-A177-3AD203B41FA5}">
                      <a16:colId xmlns:a16="http://schemas.microsoft.com/office/drawing/2014/main" val="2679287457"/>
                    </a:ext>
                  </a:extLst>
                </a:gridCol>
                <a:gridCol w="750874">
                  <a:extLst>
                    <a:ext uri="{9D8B030D-6E8A-4147-A177-3AD203B41FA5}">
                      <a16:colId xmlns:a16="http://schemas.microsoft.com/office/drawing/2014/main" val="4185409948"/>
                    </a:ext>
                  </a:extLst>
                </a:gridCol>
              </a:tblGrid>
              <a:tr h="21852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S&amp;OP1 A Prod Plan of Sept 2026  as on 19th Aug 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159393"/>
                  </a:ext>
                </a:extLst>
              </a:tr>
              <a:tr h="5244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Vertical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S&amp;OP1 A Prod Plan - Sept 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S&amp;OP2A plan for Oct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S&amp;OP3A plan for Nov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1363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5-18 Ton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4,572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4,347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4,253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159798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Sub 5 ton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201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149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143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982172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LMD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4,773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4,496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4,396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575918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HD - MAV &amp; TT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234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390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375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60149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HD- 4x2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1,399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1,400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1,500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66347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HD Pro 6000 Tipper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72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215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235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043382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HD Pro 8000 Tipper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35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70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75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696972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HD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1,740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2,075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2,185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114015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LMD Built up Bus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216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267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263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314162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LMD Mkt Cwc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200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266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269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349196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HD Built up Bus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995833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HD Mkt Cwc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119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82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13357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LMD EV Bus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140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357759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HD EV Bus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26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989700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Bus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681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741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621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445213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 X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1,505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1,000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500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617990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510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69399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1,050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620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493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892880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NPI Vehicles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170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97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119353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NPI Pro 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617615"/>
                  </a:ext>
                </a:extLst>
              </a:tr>
              <a:tr h="218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   10,429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    9,029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   8,275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5965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13C4F7-A32D-E0A5-4BDB-A88DAC46D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082213"/>
              </p:ext>
            </p:extLst>
          </p:nvPr>
        </p:nvGraphicFramePr>
        <p:xfrm>
          <a:off x="5284377" y="595916"/>
          <a:ext cx="6684225" cy="3474720"/>
        </p:xfrm>
        <a:graphic>
          <a:graphicData uri="http://schemas.openxmlformats.org/drawingml/2006/table">
            <a:tbl>
              <a:tblPr firstRow="1" firstCol="1" bandRow="1"/>
              <a:tblGrid>
                <a:gridCol w="798937">
                  <a:extLst>
                    <a:ext uri="{9D8B030D-6E8A-4147-A177-3AD203B41FA5}">
                      <a16:colId xmlns:a16="http://schemas.microsoft.com/office/drawing/2014/main" val="1353760419"/>
                    </a:ext>
                  </a:extLst>
                </a:gridCol>
                <a:gridCol w="616535">
                  <a:extLst>
                    <a:ext uri="{9D8B030D-6E8A-4147-A177-3AD203B41FA5}">
                      <a16:colId xmlns:a16="http://schemas.microsoft.com/office/drawing/2014/main" val="1097569478"/>
                    </a:ext>
                  </a:extLst>
                </a:gridCol>
                <a:gridCol w="734687">
                  <a:extLst>
                    <a:ext uri="{9D8B030D-6E8A-4147-A177-3AD203B41FA5}">
                      <a16:colId xmlns:a16="http://schemas.microsoft.com/office/drawing/2014/main" val="3221974453"/>
                    </a:ext>
                  </a:extLst>
                </a:gridCol>
                <a:gridCol w="642852">
                  <a:extLst>
                    <a:ext uri="{9D8B030D-6E8A-4147-A177-3AD203B41FA5}">
                      <a16:colId xmlns:a16="http://schemas.microsoft.com/office/drawing/2014/main" val="490398650"/>
                    </a:ext>
                  </a:extLst>
                </a:gridCol>
                <a:gridCol w="179646">
                  <a:extLst>
                    <a:ext uri="{9D8B030D-6E8A-4147-A177-3AD203B41FA5}">
                      <a16:colId xmlns:a16="http://schemas.microsoft.com/office/drawing/2014/main" val="514932540"/>
                    </a:ext>
                  </a:extLst>
                </a:gridCol>
                <a:gridCol w="821152">
                  <a:extLst>
                    <a:ext uri="{9D8B030D-6E8A-4147-A177-3AD203B41FA5}">
                      <a16:colId xmlns:a16="http://schemas.microsoft.com/office/drawing/2014/main" val="530541083"/>
                    </a:ext>
                  </a:extLst>
                </a:gridCol>
                <a:gridCol w="963472">
                  <a:extLst>
                    <a:ext uri="{9D8B030D-6E8A-4147-A177-3AD203B41FA5}">
                      <a16:colId xmlns:a16="http://schemas.microsoft.com/office/drawing/2014/main" val="1508800716"/>
                    </a:ext>
                  </a:extLst>
                </a:gridCol>
                <a:gridCol w="963472">
                  <a:extLst>
                    <a:ext uri="{9D8B030D-6E8A-4147-A177-3AD203B41FA5}">
                      <a16:colId xmlns:a16="http://schemas.microsoft.com/office/drawing/2014/main" val="3832159277"/>
                    </a:ext>
                  </a:extLst>
                </a:gridCol>
                <a:gridCol w="963472">
                  <a:extLst>
                    <a:ext uri="{9D8B030D-6E8A-4147-A177-3AD203B41FA5}">
                      <a16:colId xmlns:a16="http://schemas.microsoft.com/office/drawing/2014/main" val="2359828122"/>
                    </a:ext>
                  </a:extLst>
                </a:gridCol>
              </a:tblGrid>
              <a:tr h="2193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LMD/HD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S&amp;OP1 Sep 2026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Plant Commitment</a:t>
                      </a:r>
                      <a:b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27th Aug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331593"/>
                  </a:ext>
                </a:extLst>
              </a:tr>
              <a:tr h="2193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 Sales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 Opening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ETB Rollout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Final Delivery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Oct-26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Nov-26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481970"/>
                  </a:ext>
                </a:extLst>
              </a:tr>
              <a:tr h="1096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LMD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6642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6642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6095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5868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5595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5425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531067"/>
                  </a:ext>
                </a:extLst>
              </a:tr>
              <a:tr h="1096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2282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2282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2208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2133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2434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2350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245078"/>
                  </a:ext>
                </a:extLst>
              </a:tr>
              <a:tr h="1096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8924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8924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8303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8029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7775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220736"/>
                  </a:ext>
                </a:extLst>
              </a:tr>
              <a:tr h="109696"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365638"/>
                  </a:ext>
                </a:extLst>
              </a:tr>
              <a:tr h="2193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X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S&amp;OP1 Sep 2026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Plant Commitment</a:t>
                      </a:r>
                      <a:b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27th Aug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777229"/>
                  </a:ext>
                </a:extLst>
              </a:tr>
              <a:tr h="2193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 Sales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 Stocking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ETB Rollout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Final Delivery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Oct-26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Nov-26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000037"/>
                  </a:ext>
                </a:extLst>
              </a:tr>
              <a:tr h="1096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Diesel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1101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1101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935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386805"/>
                  </a:ext>
                </a:extLst>
              </a:tr>
              <a:tr h="1096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CNG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69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0058"/>
                  </a:ext>
                </a:extLst>
              </a:tr>
              <a:tr h="1096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32Kw-EV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622930"/>
                  </a:ext>
                </a:extLst>
              </a:tr>
              <a:tr h="1096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40Kw-EV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7268"/>
                  </a:ext>
                </a:extLst>
              </a:tr>
              <a:tr h="1096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1505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--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1505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1251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1131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400992"/>
                  </a:ext>
                </a:extLst>
              </a:tr>
              <a:tr h="109696"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4680"/>
                  </a:ext>
                </a:extLst>
              </a:tr>
              <a:tr h="109696">
                <a:tc gridSpan="2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Including AC- 271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G.total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10429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3540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9132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90953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420551-371B-4A5B-54A9-C2A73C049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7360"/>
              </p:ext>
            </p:extLst>
          </p:nvPr>
        </p:nvGraphicFramePr>
        <p:xfrm>
          <a:off x="5268612" y="4255346"/>
          <a:ext cx="6684227" cy="1828800"/>
        </p:xfrm>
        <a:graphic>
          <a:graphicData uri="http://schemas.openxmlformats.org/drawingml/2006/table">
            <a:tbl>
              <a:tblPr firstRow="1" firstCol="1" bandRow="1"/>
              <a:tblGrid>
                <a:gridCol w="1924321">
                  <a:extLst>
                    <a:ext uri="{9D8B030D-6E8A-4147-A177-3AD203B41FA5}">
                      <a16:colId xmlns:a16="http://schemas.microsoft.com/office/drawing/2014/main" val="2669784288"/>
                    </a:ext>
                  </a:extLst>
                </a:gridCol>
                <a:gridCol w="1307647">
                  <a:extLst>
                    <a:ext uri="{9D8B030D-6E8A-4147-A177-3AD203B41FA5}">
                      <a16:colId xmlns:a16="http://schemas.microsoft.com/office/drawing/2014/main" val="3554102770"/>
                    </a:ext>
                  </a:extLst>
                </a:gridCol>
                <a:gridCol w="1307647">
                  <a:extLst>
                    <a:ext uri="{9D8B030D-6E8A-4147-A177-3AD203B41FA5}">
                      <a16:colId xmlns:a16="http://schemas.microsoft.com/office/drawing/2014/main" val="826007106"/>
                    </a:ext>
                  </a:extLst>
                </a:gridCol>
                <a:gridCol w="1072306">
                  <a:extLst>
                    <a:ext uri="{9D8B030D-6E8A-4147-A177-3AD203B41FA5}">
                      <a16:colId xmlns:a16="http://schemas.microsoft.com/office/drawing/2014/main" val="3135970345"/>
                    </a:ext>
                  </a:extLst>
                </a:gridCol>
                <a:gridCol w="1072306">
                  <a:extLst>
                    <a:ext uri="{9D8B030D-6E8A-4147-A177-3AD203B41FA5}">
                      <a16:colId xmlns:a16="http://schemas.microsoft.com/office/drawing/2014/main" val="184255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EPS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S&amp;OP1 demand Sept-26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Plant Commitment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Oct-26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Nov-26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50983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Engine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19th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27th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48028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Engine -Genset-CPCB4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193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193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256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256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6042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Engine -Industrial -CEV5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173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173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223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223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23149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Engine -Harvester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39406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Engine -Industrial -Others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270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270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220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240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76003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Engine -NPI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9496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Total- Engines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679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679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749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719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72417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Axle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371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993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8871C-480A-856E-9F68-58582AE4B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37595B-3E91-2B1E-FA38-1360AB7B7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391134"/>
              </p:ext>
            </p:extLst>
          </p:nvPr>
        </p:nvGraphicFramePr>
        <p:xfrm>
          <a:off x="468645" y="540299"/>
          <a:ext cx="11404039" cy="5729563"/>
        </p:xfrm>
        <a:graphic>
          <a:graphicData uri="http://schemas.openxmlformats.org/drawingml/2006/table">
            <a:tbl>
              <a:tblPr/>
              <a:tblGrid>
                <a:gridCol w="1135286">
                  <a:extLst>
                    <a:ext uri="{9D8B030D-6E8A-4147-A177-3AD203B41FA5}">
                      <a16:colId xmlns:a16="http://schemas.microsoft.com/office/drawing/2014/main" val="1095487989"/>
                    </a:ext>
                  </a:extLst>
                </a:gridCol>
                <a:gridCol w="665567">
                  <a:extLst>
                    <a:ext uri="{9D8B030D-6E8A-4147-A177-3AD203B41FA5}">
                      <a16:colId xmlns:a16="http://schemas.microsoft.com/office/drawing/2014/main" val="685708647"/>
                    </a:ext>
                  </a:extLst>
                </a:gridCol>
                <a:gridCol w="665567">
                  <a:extLst>
                    <a:ext uri="{9D8B030D-6E8A-4147-A177-3AD203B41FA5}">
                      <a16:colId xmlns:a16="http://schemas.microsoft.com/office/drawing/2014/main" val="130986472"/>
                    </a:ext>
                  </a:extLst>
                </a:gridCol>
                <a:gridCol w="665567">
                  <a:extLst>
                    <a:ext uri="{9D8B030D-6E8A-4147-A177-3AD203B41FA5}">
                      <a16:colId xmlns:a16="http://schemas.microsoft.com/office/drawing/2014/main" val="3490450594"/>
                    </a:ext>
                  </a:extLst>
                </a:gridCol>
                <a:gridCol w="665567">
                  <a:extLst>
                    <a:ext uri="{9D8B030D-6E8A-4147-A177-3AD203B41FA5}">
                      <a16:colId xmlns:a16="http://schemas.microsoft.com/office/drawing/2014/main" val="215291628"/>
                    </a:ext>
                  </a:extLst>
                </a:gridCol>
                <a:gridCol w="665567">
                  <a:extLst>
                    <a:ext uri="{9D8B030D-6E8A-4147-A177-3AD203B41FA5}">
                      <a16:colId xmlns:a16="http://schemas.microsoft.com/office/drawing/2014/main" val="2705429852"/>
                    </a:ext>
                  </a:extLst>
                </a:gridCol>
                <a:gridCol w="6940918">
                  <a:extLst>
                    <a:ext uri="{9D8B030D-6E8A-4147-A177-3AD203B41FA5}">
                      <a16:colId xmlns:a16="http://schemas.microsoft.com/office/drawing/2014/main" val="2834088367"/>
                    </a:ext>
                  </a:extLst>
                </a:gridCol>
              </a:tblGrid>
              <a:tr h="88619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  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S&amp;OP-1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Rollout Commt.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Delivery Commt.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FERT Level Gap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Gap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973187"/>
                  </a:ext>
                </a:extLst>
              </a:tr>
              <a:tr h="886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Demand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015938"/>
                  </a:ext>
                </a:extLst>
              </a:tr>
              <a:tr h="3454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Trucks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4773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4918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4694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veh- Pro2110XPT -Appln plant lead time &amp;  chassis rollout parts - W3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veh- Pro2116XPT -Appln plant lead time &amp;  chassis rollout parts - W3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veh- Pro2075T-Appln plant lead time &amp;  chassis rollout parts - W3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veh- Pro2055T--Appln plant lead time &amp;  chassis rollout parts - W3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003271"/>
                  </a:ext>
                </a:extLst>
              </a:tr>
              <a:tr h="886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Trucks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1898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1745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veh (Pro6028TM-Appln plant)- Chassis rollout/delivery delay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176119"/>
                  </a:ext>
                </a:extLst>
              </a:tr>
              <a:tr h="886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Mkt Cowl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 delivery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040650"/>
                  </a:ext>
                </a:extLst>
              </a:tr>
              <a:tr h="886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Mkt Cowl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 delivery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213907"/>
                  </a:ext>
                </a:extLst>
              </a:tr>
              <a:tr h="886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DOM Bus Plant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362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 EV Bus (9m) &amp; 06 EV Buses (12m) short--Chassis material/Built up time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149667"/>
                  </a:ext>
                </a:extLst>
              </a:tr>
              <a:tr h="886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demand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203092"/>
                  </a:ext>
                </a:extLst>
              </a:tr>
              <a:tr h="886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RCB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 from RCB bus body builder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583899"/>
                  </a:ext>
                </a:extLst>
              </a:tr>
              <a:tr h="6023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 Bus Plant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 Bus- Pro3008 LHD - STS- MBOM Released, Proto built after NCR closure on STS School, Delivery Oct W2/W3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 Bus- Qatar/UAE-Pro3008 LHD-Face lift NCR Closure &amp; Duct parts fittment pending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Bus -UAE- 20.15 LHD- 30 veh rollout short (Fuel Tank), 07 veh Ok tag planned in Oct W2/W3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 Bus- Oman-20.15 LHD- delivery by Oct W2/W3 due to 12 types NCR pending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 Bus- Zim/Mozamb- Pro3008 -Parts Design &amp;  Fixture issue to be explore with EBB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 Bus- Uganda- Prosky 3009- Chassis rollout W4 -Bracket P/S Pump delayed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 Bus- Zim -Pro sky 3009- 1 bus EDD- Oct W2/W3; 01 Bus- Tanzania- 20.15</a:t>
                      </a:r>
                    </a:p>
                  </a:txBody>
                  <a:tcPr marL="5339" marR="5339" marT="5339" marB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700018"/>
                  </a:ext>
                </a:extLst>
              </a:tr>
              <a:tr h="7735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Exports Trucks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613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503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499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20 Truck- S Africa -Pro6025TM - Application plant-SST, Imported parts lead time high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Trucks- Bangladesh (15), Uganda(3)- Pro5025 CBC- MRF Tyre short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Trucks- Bangladesh- Pro5016 CKD- Fuel tank 395 Ltr Critical; 10 Trucks- Bangladesh- Pro5025T- Bogi-  ZF Transmission -W4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Truck- Bangladesh- Pro2114XP CKD- Non commit from NPI Side; 08 Trucks- Nepal - Pro6028XPT Appln- Chassis rollout -W4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 Trucks-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Srilanka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Pro5016T-Talbros wear Plate short; 04 Trucks- Nepal- Pro6019XPT Box body- chassis rollout- W4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 Trucks- Mauritius- Pro1080XPT- short from application plant;04 Trucks- UAE- Pro2080XPT-short from application plant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 Trucks- Dom Rep Congo- Pro2080XPT-Not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SOP'ed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for Dominican Rep;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 Trucks-Uganda- Pro6025TM- Short from Application plant; 02 Trucks-Srilanka-Pro6025TM- BOM not available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 Trucks- Nepal- Pro6028TM- Short from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app'n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plant</a:t>
                      </a:r>
                    </a:p>
                  </a:txBody>
                  <a:tcPr marL="5339" marR="5339" marT="5339" marB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92963"/>
                  </a:ext>
                </a:extLst>
              </a:tr>
              <a:tr h="1742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IS- Buses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Buses- 2075  (MSRTC) - Customer Visit pending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 Buses -Pro2112 M - Fixture issue , Explore with  EBB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468586"/>
                  </a:ext>
                </a:extLst>
              </a:tr>
              <a:tr h="886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Trucks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 veh- 2075 Troop Carrier-(247/50) BOM not ready(dozing unit addn), chassis rollout-W3/W4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230155"/>
                  </a:ext>
                </a:extLst>
              </a:tr>
              <a:tr h="2598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NPI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7000-56 Demand/Outlok-53 (03 veh- PRV &amp; DCV Critical, BOM correction reqd)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 EV Buses- Short from EV Shop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veh- pro2000 truck and cowl ; 2 veh- Pro3019 CNG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058588"/>
                  </a:ext>
                </a:extLst>
              </a:tr>
              <a:tr h="886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8924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8303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8001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972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033057"/>
                  </a:ext>
                </a:extLst>
              </a:tr>
              <a:tr h="88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39" marR="5339" marT="5339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39" marR="5339" marT="5339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39" marR="5339" marT="5339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39" marR="5339" marT="5339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39" marR="5339" marT="5339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39" marR="5339" marT="5339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39" marR="5339" marT="5339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48692"/>
                  </a:ext>
                </a:extLst>
              </a:tr>
              <a:tr h="886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39" marR="5339" marT="533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40742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068E7B6-DC3E-6062-829F-07D7E5491B4A}"/>
              </a:ext>
            </a:extLst>
          </p:cNvPr>
          <p:cNvSpPr/>
          <p:nvPr/>
        </p:nvSpPr>
        <p:spPr>
          <a:xfrm>
            <a:off x="103239" y="-49102"/>
            <a:ext cx="12088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002060"/>
                </a:solidFill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Sep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’26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..S&amp;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OP I demand &amp; Commitment -Summary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 Display" panose="02110004020202020204"/>
              <a:ea typeface="Segoe UI Symbol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C99BA-CEDD-C685-EEE4-70A2FB541FAC}"/>
              </a:ext>
            </a:extLst>
          </p:cNvPr>
          <p:cNvSpPr txBox="1"/>
          <p:nvPr/>
        </p:nvSpPr>
        <p:spPr>
          <a:xfrm>
            <a:off x="3046751" y="3203111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Category  </a:t>
            </a:r>
          </a:p>
        </p:txBody>
      </p:sp>
    </p:spTree>
    <p:extLst>
      <p:ext uri="{BB962C8B-B14F-4D97-AF65-F5344CB8AC3E}">
        <p14:creationId xmlns:p14="http://schemas.microsoft.com/office/powerpoint/2010/main" val="2779038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73EE2-08A9-ABEA-D39C-B335415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10993E-CEF5-F9DB-A595-94A29C17258D}"/>
              </a:ext>
            </a:extLst>
          </p:cNvPr>
          <p:cNvGraphicFramePr>
            <a:graphicFrameLocks noGrp="1"/>
          </p:cNvGraphicFramePr>
          <p:nvPr/>
        </p:nvGraphicFramePr>
        <p:xfrm>
          <a:off x="114206" y="428406"/>
          <a:ext cx="11743011" cy="5264785"/>
        </p:xfrm>
        <a:graphic>
          <a:graphicData uri="http://schemas.openxmlformats.org/drawingml/2006/table">
            <a:tbl>
              <a:tblPr/>
              <a:tblGrid>
                <a:gridCol w="634984">
                  <a:extLst>
                    <a:ext uri="{9D8B030D-6E8A-4147-A177-3AD203B41FA5}">
                      <a16:colId xmlns:a16="http://schemas.microsoft.com/office/drawing/2014/main" val="3123407184"/>
                    </a:ext>
                  </a:extLst>
                </a:gridCol>
                <a:gridCol w="1054883">
                  <a:extLst>
                    <a:ext uri="{9D8B030D-6E8A-4147-A177-3AD203B41FA5}">
                      <a16:colId xmlns:a16="http://schemas.microsoft.com/office/drawing/2014/main" val="1779129086"/>
                    </a:ext>
                  </a:extLst>
                </a:gridCol>
                <a:gridCol w="1932236">
                  <a:extLst>
                    <a:ext uri="{9D8B030D-6E8A-4147-A177-3AD203B41FA5}">
                      <a16:colId xmlns:a16="http://schemas.microsoft.com/office/drawing/2014/main" val="2625336949"/>
                    </a:ext>
                  </a:extLst>
                </a:gridCol>
                <a:gridCol w="1054301">
                  <a:extLst>
                    <a:ext uri="{9D8B030D-6E8A-4147-A177-3AD203B41FA5}">
                      <a16:colId xmlns:a16="http://schemas.microsoft.com/office/drawing/2014/main" val="2904963574"/>
                    </a:ext>
                  </a:extLst>
                </a:gridCol>
                <a:gridCol w="551426">
                  <a:extLst>
                    <a:ext uri="{9D8B030D-6E8A-4147-A177-3AD203B41FA5}">
                      <a16:colId xmlns:a16="http://schemas.microsoft.com/office/drawing/2014/main" val="3009420624"/>
                    </a:ext>
                  </a:extLst>
                </a:gridCol>
                <a:gridCol w="551426">
                  <a:extLst>
                    <a:ext uri="{9D8B030D-6E8A-4147-A177-3AD203B41FA5}">
                      <a16:colId xmlns:a16="http://schemas.microsoft.com/office/drawing/2014/main" val="526944463"/>
                    </a:ext>
                  </a:extLst>
                </a:gridCol>
                <a:gridCol w="551426">
                  <a:extLst>
                    <a:ext uri="{9D8B030D-6E8A-4147-A177-3AD203B41FA5}">
                      <a16:colId xmlns:a16="http://schemas.microsoft.com/office/drawing/2014/main" val="3624582996"/>
                    </a:ext>
                  </a:extLst>
                </a:gridCol>
                <a:gridCol w="1433963">
                  <a:extLst>
                    <a:ext uri="{9D8B030D-6E8A-4147-A177-3AD203B41FA5}">
                      <a16:colId xmlns:a16="http://schemas.microsoft.com/office/drawing/2014/main" val="4267888492"/>
                    </a:ext>
                  </a:extLst>
                </a:gridCol>
                <a:gridCol w="41957">
                  <a:extLst>
                    <a:ext uri="{9D8B030D-6E8A-4147-A177-3AD203B41FA5}">
                      <a16:colId xmlns:a16="http://schemas.microsoft.com/office/drawing/2014/main" val="2499270194"/>
                    </a:ext>
                  </a:extLst>
                </a:gridCol>
                <a:gridCol w="605460">
                  <a:extLst>
                    <a:ext uri="{9D8B030D-6E8A-4147-A177-3AD203B41FA5}">
                      <a16:colId xmlns:a16="http://schemas.microsoft.com/office/drawing/2014/main" val="2215820693"/>
                    </a:ext>
                  </a:extLst>
                </a:gridCol>
                <a:gridCol w="529836">
                  <a:extLst>
                    <a:ext uri="{9D8B030D-6E8A-4147-A177-3AD203B41FA5}">
                      <a16:colId xmlns:a16="http://schemas.microsoft.com/office/drawing/2014/main" val="984829599"/>
                    </a:ext>
                  </a:extLst>
                </a:gridCol>
                <a:gridCol w="529836">
                  <a:extLst>
                    <a:ext uri="{9D8B030D-6E8A-4147-A177-3AD203B41FA5}">
                      <a16:colId xmlns:a16="http://schemas.microsoft.com/office/drawing/2014/main" val="1954932125"/>
                    </a:ext>
                  </a:extLst>
                </a:gridCol>
                <a:gridCol w="454449">
                  <a:extLst>
                    <a:ext uri="{9D8B030D-6E8A-4147-A177-3AD203B41FA5}">
                      <a16:colId xmlns:a16="http://schemas.microsoft.com/office/drawing/2014/main" val="2402999788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val="356090019"/>
                    </a:ext>
                  </a:extLst>
                </a:gridCol>
                <a:gridCol w="547573">
                  <a:extLst>
                    <a:ext uri="{9D8B030D-6E8A-4147-A177-3AD203B41FA5}">
                      <a16:colId xmlns:a16="http://schemas.microsoft.com/office/drawing/2014/main" val="2477934847"/>
                    </a:ext>
                  </a:extLst>
                </a:gridCol>
                <a:gridCol w="591306">
                  <a:extLst>
                    <a:ext uri="{9D8B030D-6E8A-4147-A177-3AD203B41FA5}">
                      <a16:colId xmlns:a16="http://schemas.microsoft.com/office/drawing/2014/main" val="1520338278"/>
                    </a:ext>
                  </a:extLst>
                </a:gridCol>
              </a:tblGrid>
              <a:tr h="1766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Country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 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Aug`26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 1 Sep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Opn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Sept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Delivery Plan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751821"/>
                  </a:ext>
                </a:extLst>
              </a:tr>
              <a:tr h="1177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Sep-26 Plan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Oct-26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Nov-26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321691"/>
                  </a:ext>
                </a:extLst>
              </a:tr>
              <a:tr h="1177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Actual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20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25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27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080304"/>
                  </a:ext>
                </a:extLst>
              </a:tr>
              <a:tr h="235585">
                <a:tc row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LHD-STS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 – 18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July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Divertic-Finalized,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PD- to release drawing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728300"/>
                  </a:ext>
                </a:extLst>
              </a:tr>
              <a:tr h="235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 E3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Libya, Oman, Ghana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12 - 3rd July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Power Pack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035700"/>
                  </a:ext>
                </a:extLst>
              </a:tr>
              <a:tr h="1177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 E3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Uganda (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JCBL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1 - 4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542627"/>
                  </a:ext>
                </a:extLst>
              </a:tr>
              <a:tr h="3533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 E4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 – 4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Aug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 – 20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95157"/>
                  </a:ext>
                </a:extLst>
              </a:tr>
              <a:tr h="1177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 E5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Qatar, Saudi 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19 - 16th May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5191"/>
                  </a:ext>
                </a:extLst>
              </a:tr>
              <a:tr h="1177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31165"/>
                  </a:ext>
                </a:extLst>
              </a:tr>
              <a:tr h="235585"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3000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3008 LHD E4-STS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67 - 21st May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 – 18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July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STS-Proto to inspect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44629"/>
                  </a:ext>
                </a:extLst>
              </a:tr>
              <a:tr h="7067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Sky pro RHD SA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South A, Zimbabwe, Mozambique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 – 4th May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 – 14th May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27 - 20th Jun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– 4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Aug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 – 20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Window Leakage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89184"/>
                  </a:ext>
                </a:extLst>
              </a:tr>
              <a:tr h="1177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3009 E3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Uganda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3 - 20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967902"/>
                  </a:ext>
                </a:extLst>
              </a:tr>
              <a:tr h="1177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3008 RHD E4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Srilanka (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MGX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10 - 30th Apr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NCR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147256"/>
                  </a:ext>
                </a:extLst>
              </a:tr>
              <a:tr h="1177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3008 LHD E4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 – 20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324139"/>
                  </a:ext>
                </a:extLst>
              </a:tr>
              <a:tr h="3533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3008 LHD E5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(Face Lift)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Qatar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 – 18th May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 – 20th May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– 3rd Jun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Face lift (Duct) buses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4661"/>
                  </a:ext>
                </a:extLst>
              </a:tr>
              <a:tr h="1177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198589"/>
                  </a:ext>
                </a:extLst>
              </a:tr>
              <a:tr h="1410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Starline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Starline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Zambia, Tanzania, Nepal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 – 20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915698"/>
                  </a:ext>
                </a:extLst>
              </a:tr>
              <a:tr h="1177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434101"/>
                  </a:ext>
                </a:extLst>
              </a:tr>
              <a:tr h="1177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78323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6AD0E73-5FED-5603-EB38-D398A582BA78}"/>
              </a:ext>
            </a:extLst>
          </p:cNvPr>
          <p:cNvSpPr/>
          <p:nvPr/>
        </p:nvSpPr>
        <p:spPr>
          <a:xfrm>
            <a:off x="131378" y="12237"/>
            <a:ext cx="11929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Built-up Export Buses status….</a:t>
            </a:r>
            <a:r>
              <a:rPr lang="en-IN" sz="2400" b="1" i="1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`26</a:t>
            </a:r>
          </a:p>
        </p:txBody>
      </p:sp>
    </p:spTree>
    <p:extLst>
      <p:ext uri="{BB962C8B-B14F-4D97-AF65-F5344CB8AC3E}">
        <p14:creationId xmlns:p14="http://schemas.microsoft.com/office/powerpoint/2010/main" val="2623900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31D42E-9D1D-3FE9-F9E1-FCA9B0C95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57703"/>
              </p:ext>
            </p:extLst>
          </p:nvPr>
        </p:nvGraphicFramePr>
        <p:xfrm>
          <a:off x="452790" y="548625"/>
          <a:ext cx="9952453" cy="5703984"/>
        </p:xfrm>
        <a:graphic>
          <a:graphicData uri="http://schemas.openxmlformats.org/drawingml/2006/table">
            <a:tbl>
              <a:tblPr/>
              <a:tblGrid>
                <a:gridCol w="1796612">
                  <a:extLst>
                    <a:ext uri="{9D8B030D-6E8A-4147-A177-3AD203B41FA5}">
                      <a16:colId xmlns:a16="http://schemas.microsoft.com/office/drawing/2014/main" val="292177675"/>
                    </a:ext>
                  </a:extLst>
                </a:gridCol>
                <a:gridCol w="452385">
                  <a:extLst>
                    <a:ext uri="{9D8B030D-6E8A-4147-A177-3AD203B41FA5}">
                      <a16:colId xmlns:a16="http://schemas.microsoft.com/office/drawing/2014/main" val="72196526"/>
                    </a:ext>
                  </a:extLst>
                </a:gridCol>
                <a:gridCol w="865992">
                  <a:extLst>
                    <a:ext uri="{9D8B030D-6E8A-4147-A177-3AD203B41FA5}">
                      <a16:colId xmlns:a16="http://schemas.microsoft.com/office/drawing/2014/main" val="246818592"/>
                    </a:ext>
                  </a:extLst>
                </a:gridCol>
                <a:gridCol w="452385">
                  <a:extLst>
                    <a:ext uri="{9D8B030D-6E8A-4147-A177-3AD203B41FA5}">
                      <a16:colId xmlns:a16="http://schemas.microsoft.com/office/drawing/2014/main" val="3598511168"/>
                    </a:ext>
                  </a:extLst>
                </a:gridCol>
                <a:gridCol w="865992">
                  <a:extLst>
                    <a:ext uri="{9D8B030D-6E8A-4147-A177-3AD203B41FA5}">
                      <a16:colId xmlns:a16="http://schemas.microsoft.com/office/drawing/2014/main" val="1926595289"/>
                    </a:ext>
                  </a:extLst>
                </a:gridCol>
                <a:gridCol w="452385">
                  <a:extLst>
                    <a:ext uri="{9D8B030D-6E8A-4147-A177-3AD203B41FA5}">
                      <a16:colId xmlns:a16="http://schemas.microsoft.com/office/drawing/2014/main" val="2451726707"/>
                    </a:ext>
                  </a:extLst>
                </a:gridCol>
                <a:gridCol w="452385">
                  <a:extLst>
                    <a:ext uri="{9D8B030D-6E8A-4147-A177-3AD203B41FA5}">
                      <a16:colId xmlns:a16="http://schemas.microsoft.com/office/drawing/2014/main" val="1635607511"/>
                    </a:ext>
                  </a:extLst>
                </a:gridCol>
                <a:gridCol w="452385">
                  <a:extLst>
                    <a:ext uri="{9D8B030D-6E8A-4147-A177-3AD203B41FA5}">
                      <a16:colId xmlns:a16="http://schemas.microsoft.com/office/drawing/2014/main" val="3041204266"/>
                    </a:ext>
                  </a:extLst>
                </a:gridCol>
                <a:gridCol w="865992">
                  <a:extLst>
                    <a:ext uri="{9D8B030D-6E8A-4147-A177-3AD203B41FA5}">
                      <a16:colId xmlns:a16="http://schemas.microsoft.com/office/drawing/2014/main" val="4121817570"/>
                    </a:ext>
                  </a:extLst>
                </a:gridCol>
                <a:gridCol w="452385">
                  <a:extLst>
                    <a:ext uri="{9D8B030D-6E8A-4147-A177-3AD203B41FA5}">
                      <a16:colId xmlns:a16="http://schemas.microsoft.com/office/drawing/2014/main" val="3229730661"/>
                    </a:ext>
                  </a:extLst>
                </a:gridCol>
                <a:gridCol w="482543">
                  <a:extLst>
                    <a:ext uri="{9D8B030D-6E8A-4147-A177-3AD203B41FA5}">
                      <a16:colId xmlns:a16="http://schemas.microsoft.com/office/drawing/2014/main" val="2071066036"/>
                    </a:ext>
                  </a:extLst>
                </a:gridCol>
                <a:gridCol w="672114">
                  <a:extLst>
                    <a:ext uri="{9D8B030D-6E8A-4147-A177-3AD203B41FA5}">
                      <a16:colId xmlns:a16="http://schemas.microsoft.com/office/drawing/2014/main" val="700179404"/>
                    </a:ext>
                  </a:extLst>
                </a:gridCol>
                <a:gridCol w="861682">
                  <a:extLst>
                    <a:ext uri="{9D8B030D-6E8A-4147-A177-3AD203B41FA5}">
                      <a16:colId xmlns:a16="http://schemas.microsoft.com/office/drawing/2014/main" val="1280892373"/>
                    </a:ext>
                  </a:extLst>
                </a:gridCol>
                <a:gridCol w="827216">
                  <a:extLst>
                    <a:ext uri="{9D8B030D-6E8A-4147-A177-3AD203B41FA5}">
                      <a16:colId xmlns:a16="http://schemas.microsoft.com/office/drawing/2014/main" val="2076832610"/>
                    </a:ext>
                  </a:extLst>
                </a:gridCol>
              </a:tblGrid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S&amp;OP I Sep -26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E494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E494-CNG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E694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E694-CNG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E366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E474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E483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E483-CNG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E683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VEPT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Electric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Cummins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95678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Truck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4738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464121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Truck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297856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 Cowl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489067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65262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Export Truck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248002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Export Bus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172275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185052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NPI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253131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3394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319976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 Opening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538566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3666</a:t>
                      </a: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3658</a:t>
                      </a: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344502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196856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Rollout Commit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E494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E494-CNG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E694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E694-CNG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E366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E474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E483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E483-CNG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E683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VEPT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Electric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Cummins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082346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Truck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4883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271511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Truck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379277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 Cowl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445246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688624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Export Truck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346685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Export Bus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516850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98716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NPI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730532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3161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8303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657677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3623</a:t>
                      </a: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3425</a:t>
                      </a: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271317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522611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Delivery Commit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E494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E494-CNG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E694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E694-CNG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E366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E474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E483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E483-CNG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E683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VEPT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Electric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Cummins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044" marR="6044" marT="604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171951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Truck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4659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617707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Truck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267342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 Cowl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696282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941614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Export Truck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076111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Export Bus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469661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101513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NPI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737747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258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3055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379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554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8001</a:t>
                      </a:r>
                    </a:p>
                  </a:txBody>
                  <a:tcPr marL="6044" marR="6044" marT="604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161410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3422</a:t>
                      </a: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3319</a:t>
                      </a: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38747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1207E2-1A77-52F2-D2D6-20FAD34FE04E}"/>
              </a:ext>
            </a:extLst>
          </p:cNvPr>
          <p:cNvSpPr/>
          <p:nvPr/>
        </p:nvSpPr>
        <p:spPr>
          <a:xfrm>
            <a:off x="13835" y="5704"/>
            <a:ext cx="1177943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cs typeface="Calibri" panose="020F0502020204030204" pitchFamily="34" charset="0"/>
              </a:rPr>
              <a:t>S&amp;</a:t>
            </a:r>
            <a:r>
              <a:rPr kumimoji="0" lang="en-US" sz="2000" b="1" i="0" u="sng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cs typeface="Calibri" panose="020F0502020204030204" pitchFamily="34" charset="0"/>
              </a:rPr>
              <a:t>OP I Sep-26 (Engine Wise)</a:t>
            </a:r>
            <a:endParaRPr lang="en-US" sz="2000" b="1" u="sng" dirty="0">
              <a:solidFill>
                <a:srgbClr val="002060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sng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339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D827-2F26-6144-1E5E-146E0657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1B198-CC01-80C2-57B4-26DFD62CC834}"/>
              </a:ext>
            </a:extLst>
          </p:cNvPr>
          <p:cNvSpPr/>
          <p:nvPr/>
        </p:nvSpPr>
        <p:spPr>
          <a:xfrm>
            <a:off x="103239" y="17066"/>
            <a:ext cx="12088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Sep’26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..S&amp;OP demand &amp; Outlook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0E434-3EAF-44B5-8712-DF35DC7A32E9}"/>
              </a:ext>
            </a:extLst>
          </p:cNvPr>
          <p:cNvSpPr txBox="1"/>
          <p:nvPr/>
        </p:nvSpPr>
        <p:spPr>
          <a:xfrm>
            <a:off x="15614" y="842905"/>
            <a:ext cx="6369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CV Sales demand 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8924,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Rollout Commitment 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1200" b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8300</a:t>
            </a:r>
            <a:r>
              <a:rPr lang="en-US" sz="12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Commitment </a:t>
            </a:r>
            <a:r>
              <a:rPr lang="en-US" sz="12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1200" b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8000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 X Sales demand  </a:t>
            </a:r>
            <a:r>
              <a:rPr lang="en-US" sz="1200" b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1505, </a:t>
            </a:r>
            <a:r>
              <a:rPr lang="en-US" sz="12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Rollout Commitment – </a:t>
            </a:r>
            <a:r>
              <a:rPr lang="en-US" sz="1200" b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1251</a:t>
            </a:r>
            <a:r>
              <a:rPr lang="en-US" sz="12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Commitment – </a:t>
            </a:r>
            <a:r>
              <a:rPr lang="en-US" sz="1200" b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1131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CV gap mainly due to IS Troop Carrier, MSRTC, Export &amp; EV Buses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4A883B-71A5-8CB0-B360-721C0BCC4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422090"/>
              </p:ext>
            </p:extLst>
          </p:nvPr>
        </p:nvGraphicFramePr>
        <p:xfrm>
          <a:off x="103239" y="1608270"/>
          <a:ext cx="5943598" cy="1071886"/>
        </p:xfrm>
        <a:graphic>
          <a:graphicData uri="http://schemas.openxmlformats.org/drawingml/2006/table">
            <a:tbl>
              <a:tblPr firstRow="1" firstCol="1" bandRow="1"/>
              <a:tblGrid>
                <a:gridCol w="609640">
                  <a:extLst>
                    <a:ext uri="{9D8B030D-6E8A-4147-A177-3AD203B41FA5}">
                      <a16:colId xmlns:a16="http://schemas.microsoft.com/office/drawing/2014/main" val="3720942011"/>
                    </a:ext>
                  </a:extLst>
                </a:gridCol>
                <a:gridCol w="888993">
                  <a:extLst>
                    <a:ext uri="{9D8B030D-6E8A-4147-A177-3AD203B41FA5}">
                      <a16:colId xmlns:a16="http://schemas.microsoft.com/office/drawing/2014/main" val="3990029224"/>
                    </a:ext>
                  </a:extLst>
                </a:gridCol>
                <a:gridCol w="888993">
                  <a:extLst>
                    <a:ext uri="{9D8B030D-6E8A-4147-A177-3AD203B41FA5}">
                      <a16:colId xmlns:a16="http://schemas.microsoft.com/office/drawing/2014/main" val="3571723555"/>
                    </a:ext>
                  </a:extLst>
                </a:gridCol>
                <a:gridCol w="888993">
                  <a:extLst>
                    <a:ext uri="{9D8B030D-6E8A-4147-A177-3AD203B41FA5}">
                      <a16:colId xmlns:a16="http://schemas.microsoft.com/office/drawing/2014/main" val="981195116"/>
                    </a:ext>
                  </a:extLst>
                </a:gridCol>
                <a:gridCol w="888993">
                  <a:extLst>
                    <a:ext uri="{9D8B030D-6E8A-4147-A177-3AD203B41FA5}">
                      <a16:colId xmlns:a16="http://schemas.microsoft.com/office/drawing/2014/main" val="2403462370"/>
                    </a:ext>
                  </a:extLst>
                </a:gridCol>
                <a:gridCol w="888993">
                  <a:extLst>
                    <a:ext uri="{9D8B030D-6E8A-4147-A177-3AD203B41FA5}">
                      <a16:colId xmlns:a16="http://schemas.microsoft.com/office/drawing/2014/main" val="2757261280"/>
                    </a:ext>
                  </a:extLst>
                </a:gridCol>
                <a:gridCol w="888993">
                  <a:extLst>
                    <a:ext uri="{9D8B030D-6E8A-4147-A177-3AD203B41FA5}">
                      <a16:colId xmlns:a16="http://schemas.microsoft.com/office/drawing/2014/main" val="3201568480"/>
                    </a:ext>
                  </a:extLst>
                </a:gridCol>
              </a:tblGrid>
              <a:tr h="34777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41980" marB="419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Demand</a:t>
                      </a:r>
                    </a:p>
                  </a:txBody>
                  <a:tcPr marL="9525" marR="9525" marT="46177" marB="46177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Commitment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46177" marB="46177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Projection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46177" marB="46177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04758182"/>
                  </a:ext>
                </a:extLst>
              </a:tr>
              <a:tr h="2348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Line</a:t>
                      </a:r>
                    </a:p>
                  </a:txBody>
                  <a:tcPr marL="9525" marR="9525" marT="79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 I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79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 II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79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Rollout</a:t>
                      </a:r>
                    </a:p>
                  </a:txBody>
                  <a:tcPr marL="9525" marR="9525" marT="79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Delivery</a:t>
                      </a:r>
                    </a:p>
                  </a:txBody>
                  <a:tcPr marL="9525" marR="9525" marT="79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Oct-26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79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Nov-26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79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032532"/>
                  </a:ext>
                </a:extLst>
              </a:tr>
              <a:tr h="2446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CV</a:t>
                      </a:r>
                    </a:p>
                  </a:txBody>
                  <a:tcPr marL="9525" marR="9525" marT="79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8303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8029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7775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459553"/>
                  </a:ext>
                </a:extLst>
              </a:tr>
              <a:tr h="2446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79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1251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1131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026386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2458946D-A54F-4B89-35DB-41C08640C026}"/>
              </a:ext>
            </a:extLst>
          </p:cNvPr>
          <p:cNvSpPr/>
          <p:nvPr/>
        </p:nvSpPr>
        <p:spPr>
          <a:xfrm>
            <a:off x="103239" y="509664"/>
            <a:ext cx="5943600" cy="31047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Overall Volume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92D576-304D-6F0F-44E9-22D6F94EF0E0}"/>
              </a:ext>
            </a:extLst>
          </p:cNvPr>
          <p:cNvSpPr/>
          <p:nvPr/>
        </p:nvSpPr>
        <p:spPr>
          <a:xfrm>
            <a:off x="135273" y="3465503"/>
            <a:ext cx="5943600" cy="31047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Export </a:t>
            </a:r>
            <a:endParaRPr lang="en-IN" sz="1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EA035-18F8-67AB-53F4-2509B01291C1}"/>
              </a:ext>
            </a:extLst>
          </p:cNvPr>
          <p:cNvSpPr txBox="1"/>
          <p:nvPr/>
        </p:nvSpPr>
        <p:spPr>
          <a:xfrm>
            <a:off x="6523639" y="3478870"/>
            <a:ext cx="5503081" cy="30777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EPS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6557E91-F8B2-1BD9-584F-DCDB05FFC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384606"/>
              </p:ext>
            </p:extLst>
          </p:nvPr>
        </p:nvGraphicFramePr>
        <p:xfrm>
          <a:off x="6526508" y="4400433"/>
          <a:ext cx="5481924" cy="681273"/>
        </p:xfrm>
        <a:graphic>
          <a:graphicData uri="http://schemas.openxmlformats.org/drawingml/2006/table">
            <a:tbl>
              <a:tblPr/>
              <a:tblGrid>
                <a:gridCol w="664003">
                  <a:extLst>
                    <a:ext uri="{9D8B030D-6E8A-4147-A177-3AD203B41FA5}">
                      <a16:colId xmlns:a16="http://schemas.microsoft.com/office/drawing/2014/main" val="1871136656"/>
                    </a:ext>
                  </a:extLst>
                </a:gridCol>
                <a:gridCol w="755114">
                  <a:extLst>
                    <a:ext uri="{9D8B030D-6E8A-4147-A177-3AD203B41FA5}">
                      <a16:colId xmlns:a16="http://schemas.microsoft.com/office/drawing/2014/main" val="1185416424"/>
                    </a:ext>
                  </a:extLst>
                </a:gridCol>
                <a:gridCol w="755114">
                  <a:extLst>
                    <a:ext uri="{9D8B030D-6E8A-4147-A177-3AD203B41FA5}">
                      <a16:colId xmlns:a16="http://schemas.microsoft.com/office/drawing/2014/main" val="3566872241"/>
                    </a:ext>
                  </a:extLst>
                </a:gridCol>
                <a:gridCol w="900506">
                  <a:extLst>
                    <a:ext uri="{9D8B030D-6E8A-4147-A177-3AD203B41FA5}">
                      <a16:colId xmlns:a16="http://schemas.microsoft.com/office/drawing/2014/main" val="3736291954"/>
                    </a:ext>
                  </a:extLst>
                </a:gridCol>
                <a:gridCol w="789086">
                  <a:extLst>
                    <a:ext uri="{9D8B030D-6E8A-4147-A177-3AD203B41FA5}">
                      <a16:colId xmlns:a16="http://schemas.microsoft.com/office/drawing/2014/main" val="3524219238"/>
                    </a:ext>
                  </a:extLst>
                </a:gridCol>
                <a:gridCol w="1618101">
                  <a:extLst>
                    <a:ext uri="{9D8B030D-6E8A-4147-A177-3AD203B41FA5}">
                      <a16:colId xmlns:a16="http://schemas.microsoft.com/office/drawing/2014/main" val="3088199923"/>
                    </a:ext>
                  </a:extLst>
                </a:gridCol>
              </a:tblGrid>
              <a:tr h="2456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S&amp;OP1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S&amp;OP2 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Commitment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MTD Delivery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948105"/>
                  </a:ext>
                </a:extLst>
              </a:tr>
              <a:tr h="2178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Engines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BE2D5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4537"/>
                  </a:ext>
                </a:extLst>
              </a:tr>
              <a:tr h="2178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Axles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79405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6122ED1-BEB8-8988-5156-F5678A28F617}"/>
              </a:ext>
            </a:extLst>
          </p:cNvPr>
          <p:cNvSpPr txBox="1"/>
          <p:nvPr/>
        </p:nvSpPr>
        <p:spPr>
          <a:xfrm>
            <a:off x="6538911" y="3774607"/>
            <a:ext cx="5653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 –Demand 679,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Commitment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679,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99"/>
              </a:highligh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Axle demand &amp; commitment 108 nos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B1477A-166F-0747-A318-17B9F5885FAC}"/>
              </a:ext>
            </a:extLst>
          </p:cNvPr>
          <p:cNvSpPr txBox="1"/>
          <p:nvPr/>
        </p:nvSpPr>
        <p:spPr>
          <a:xfrm>
            <a:off x="6539308" y="2893504"/>
            <a:ext cx="50139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Market cowl </a:t>
            </a:r>
            <a:r>
              <a:rPr lang="en-US" sz="1100" b="1">
                <a:latin typeface="Calibri" panose="020F0502020204030204" pitchFamily="34" charset="0"/>
                <a:cs typeface="Calibri" panose="020F0502020204030204" pitchFamily="34" charset="0"/>
              </a:rPr>
              <a:t>demand 319, Commitment 319</a:t>
            </a:r>
            <a:endParaRPr lang="en-US" sz="11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01585D-94AF-1E03-4237-DBF1E2F558F1}"/>
              </a:ext>
            </a:extLst>
          </p:cNvPr>
          <p:cNvSpPr/>
          <p:nvPr/>
        </p:nvSpPr>
        <p:spPr>
          <a:xfrm>
            <a:off x="6525719" y="539645"/>
            <a:ext cx="5503081" cy="3077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Buses &amp; Market Cowl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86899F-E715-6F2E-B8ED-8FCECDDCEC98}"/>
              </a:ext>
            </a:extLst>
          </p:cNvPr>
          <p:cNvSpPr txBox="1"/>
          <p:nvPr/>
        </p:nvSpPr>
        <p:spPr>
          <a:xfrm>
            <a:off x="6553425" y="816255"/>
            <a:ext cx="5460386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Bus Plant Demand 1045, Delivery Commitment – 586, Rollout - 636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IS – PRTC Fully built-up inspection done built up under process with inspection &amp; MSRTC – Structure inspection done but Fully Built-up inspection pending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Export Demand – 431, Delivery Outlook – 200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Audi buses-Demand zero, Outlook-zero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9EF2A04-BF0A-7549-ED14-BED55AC8B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713817"/>
              </p:ext>
            </p:extLst>
          </p:nvPr>
        </p:nvGraphicFramePr>
        <p:xfrm>
          <a:off x="6588783" y="1820615"/>
          <a:ext cx="5403929" cy="1071885"/>
        </p:xfrm>
        <a:graphic>
          <a:graphicData uri="http://schemas.openxmlformats.org/drawingml/2006/table">
            <a:tbl>
              <a:tblPr/>
              <a:tblGrid>
                <a:gridCol w="1160943">
                  <a:extLst>
                    <a:ext uri="{9D8B030D-6E8A-4147-A177-3AD203B41FA5}">
                      <a16:colId xmlns:a16="http://schemas.microsoft.com/office/drawing/2014/main" val="1670668427"/>
                    </a:ext>
                  </a:extLst>
                </a:gridCol>
                <a:gridCol w="360997">
                  <a:extLst>
                    <a:ext uri="{9D8B030D-6E8A-4147-A177-3AD203B41FA5}">
                      <a16:colId xmlns:a16="http://schemas.microsoft.com/office/drawing/2014/main" val="1276890061"/>
                    </a:ext>
                  </a:extLst>
                </a:gridCol>
                <a:gridCol w="360997">
                  <a:extLst>
                    <a:ext uri="{9D8B030D-6E8A-4147-A177-3AD203B41FA5}">
                      <a16:colId xmlns:a16="http://schemas.microsoft.com/office/drawing/2014/main" val="4012845067"/>
                    </a:ext>
                  </a:extLst>
                </a:gridCol>
                <a:gridCol w="360997">
                  <a:extLst>
                    <a:ext uri="{9D8B030D-6E8A-4147-A177-3AD203B41FA5}">
                      <a16:colId xmlns:a16="http://schemas.microsoft.com/office/drawing/2014/main" val="975987233"/>
                    </a:ext>
                  </a:extLst>
                </a:gridCol>
                <a:gridCol w="360997">
                  <a:extLst>
                    <a:ext uri="{9D8B030D-6E8A-4147-A177-3AD203B41FA5}">
                      <a16:colId xmlns:a16="http://schemas.microsoft.com/office/drawing/2014/main" val="3252700258"/>
                    </a:ext>
                  </a:extLst>
                </a:gridCol>
                <a:gridCol w="331698">
                  <a:extLst>
                    <a:ext uri="{9D8B030D-6E8A-4147-A177-3AD203B41FA5}">
                      <a16:colId xmlns:a16="http://schemas.microsoft.com/office/drawing/2014/main" val="2124723030"/>
                    </a:ext>
                  </a:extLst>
                </a:gridCol>
                <a:gridCol w="648319">
                  <a:extLst>
                    <a:ext uri="{9D8B030D-6E8A-4147-A177-3AD203B41FA5}">
                      <a16:colId xmlns:a16="http://schemas.microsoft.com/office/drawing/2014/main" val="3100826365"/>
                    </a:ext>
                  </a:extLst>
                </a:gridCol>
                <a:gridCol w="346775">
                  <a:extLst>
                    <a:ext uri="{9D8B030D-6E8A-4147-A177-3AD203B41FA5}">
                      <a16:colId xmlns:a16="http://schemas.microsoft.com/office/drawing/2014/main" val="4239529890"/>
                    </a:ext>
                  </a:extLst>
                </a:gridCol>
                <a:gridCol w="376929">
                  <a:extLst>
                    <a:ext uri="{9D8B030D-6E8A-4147-A177-3AD203B41FA5}">
                      <a16:colId xmlns:a16="http://schemas.microsoft.com/office/drawing/2014/main" val="1997920715"/>
                    </a:ext>
                  </a:extLst>
                </a:gridCol>
                <a:gridCol w="361852">
                  <a:extLst>
                    <a:ext uri="{9D8B030D-6E8A-4147-A177-3AD203B41FA5}">
                      <a16:colId xmlns:a16="http://schemas.microsoft.com/office/drawing/2014/main" val="382190642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60207777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07093374"/>
                    </a:ext>
                  </a:extLst>
                </a:gridCol>
              </a:tblGrid>
              <a:tr h="2110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 Plant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Pvt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NPI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 Plant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Audi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JCBL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MGX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RCB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188749"/>
                  </a:ext>
                </a:extLst>
              </a:tr>
              <a:tr h="211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 I demand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216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246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148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431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1045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1059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348409"/>
                  </a:ext>
                </a:extLst>
              </a:tr>
              <a:tr h="211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Commitment-25th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227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129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586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596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01206"/>
                  </a:ext>
                </a:extLst>
              </a:tr>
              <a:tr h="211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 II demand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236614"/>
                  </a:ext>
                </a:extLst>
              </a:tr>
              <a:tr h="22788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Commitment-10</a:t>
                      </a:r>
                      <a:r>
                        <a:rPr lang="en-US" sz="11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51551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52ABCEC-4223-8332-78CD-3C929F1973BF}"/>
              </a:ext>
            </a:extLst>
          </p:cNvPr>
          <p:cNvSpPr txBox="1"/>
          <p:nvPr/>
        </p:nvSpPr>
        <p:spPr>
          <a:xfrm>
            <a:off x="183568" y="3775974"/>
            <a:ext cx="4580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Calibri" panose="020F0502020204030204"/>
              </a:rPr>
              <a:t>Opening FG - </a:t>
            </a:r>
            <a:r>
              <a:rPr lang="en-US" sz="1200" b="1">
                <a:solidFill>
                  <a:srgbClr val="0000FF"/>
                </a:solidFill>
                <a:latin typeface="Calibri" panose="020F0502020204030204"/>
              </a:rPr>
              <a:t>507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Calibri" panose="020F0502020204030204"/>
              </a:rPr>
              <a:t>Executable orders – 1050 ( 613 Truck &amp; 437 Buses)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Calibri" panose="020F0502020204030204"/>
              </a:rPr>
              <a:t>Next Two Month Projections – 620 &amp; 493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F0A419-5E90-7208-D907-3F1193DC9BA0}"/>
              </a:ext>
            </a:extLst>
          </p:cNvPr>
          <p:cNvSpPr txBox="1"/>
          <p:nvPr/>
        </p:nvSpPr>
        <p:spPr>
          <a:xfrm>
            <a:off x="60387" y="2705301"/>
            <a:ext cx="6093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CV + Pro X rollout at 9500 level, with rush order will take it to 10K+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6B0F718-F808-792F-4700-2B0A3D8A4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210881"/>
              </p:ext>
            </p:extLst>
          </p:nvPr>
        </p:nvGraphicFramePr>
        <p:xfrm>
          <a:off x="135273" y="4423332"/>
          <a:ext cx="4351207" cy="1575435"/>
        </p:xfrm>
        <a:graphic>
          <a:graphicData uri="http://schemas.openxmlformats.org/drawingml/2006/table">
            <a:tbl>
              <a:tblPr/>
              <a:tblGrid>
                <a:gridCol w="1360729">
                  <a:extLst>
                    <a:ext uri="{9D8B030D-6E8A-4147-A177-3AD203B41FA5}">
                      <a16:colId xmlns:a16="http://schemas.microsoft.com/office/drawing/2014/main" val="4037905101"/>
                    </a:ext>
                  </a:extLst>
                </a:gridCol>
                <a:gridCol w="544213">
                  <a:extLst>
                    <a:ext uri="{9D8B030D-6E8A-4147-A177-3AD203B41FA5}">
                      <a16:colId xmlns:a16="http://schemas.microsoft.com/office/drawing/2014/main" val="930822058"/>
                    </a:ext>
                  </a:extLst>
                </a:gridCol>
                <a:gridCol w="361819">
                  <a:extLst>
                    <a:ext uri="{9D8B030D-6E8A-4147-A177-3AD203B41FA5}">
                      <a16:colId xmlns:a16="http://schemas.microsoft.com/office/drawing/2014/main" val="2778782015"/>
                    </a:ext>
                  </a:extLst>
                </a:gridCol>
                <a:gridCol w="544213">
                  <a:extLst>
                    <a:ext uri="{9D8B030D-6E8A-4147-A177-3AD203B41FA5}">
                      <a16:colId xmlns:a16="http://schemas.microsoft.com/office/drawing/2014/main" val="2312813569"/>
                    </a:ext>
                  </a:extLst>
                </a:gridCol>
                <a:gridCol w="538259">
                  <a:extLst>
                    <a:ext uri="{9D8B030D-6E8A-4147-A177-3AD203B41FA5}">
                      <a16:colId xmlns:a16="http://schemas.microsoft.com/office/drawing/2014/main" val="3330006866"/>
                    </a:ext>
                  </a:extLst>
                </a:gridCol>
                <a:gridCol w="500987">
                  <a:extLst>
                    <a:ext uri="{9D8B030D-6E8A-4147-A177-3AD203B41FA5}">
                      <a16:colId xmlns:a16="http://schemas.microsoft.com/office/drawing/2014/main" val="3555919104"/>
                    </a:ext>
                  </a:extLst>
                </a:gridCol>
                <a:gridCol w="500987">
                  <a:extLst>
                    <a:ext uri="{9D8B030D-6E8A-4147-A177-3AD203B41FA5}">
                      <a16:colId xmlns:a16="http://schemas.microsoft.com/office/drawing/2014/main" val="2442179711"/>
                    </a:ext>
                  </a:extLst>
                </a:gridCol>
              </a:tblGrid>
              <a:tr h="7555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S&amp;OP I  Plan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S&amp;OP II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67151"/>
                  </a:ext>
                </a:extLst>
              </a:tr>
              <a:tr h="7682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891191"/>
                  </a:ext>
                </a:extLst>
              </a:tr>
              <a:tr h="75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 Demand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28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860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789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7198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648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576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5067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4361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878558"/>
                  </a:ext>
                </a:extLst>
              </a:tr>
              <a:tr h="75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Delivery by 31</a:t>
                      </a:r>
                      <a:r>
                        <a:rPr lang="en-IN" sz="11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916656"/>
                  </a:ext>
                </a:extLst>
              </a:tr>
              <a:tr h="75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Billable by 31</a:t>
                      </a:r>
                      <a:r>
                        <a:rPr lang="en-IN" sz="11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5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5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5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104936"/>
                  </a:ext>
                </a:extLst>
              </a:tr>
              <a:tr h="75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Billable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5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5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5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856558"/>
                  </a:ext>
                </a:extLst>
              </a:tr>
              <a:tr h="75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Carry Forward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28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860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789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7198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648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576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5067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4361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815130"/>
                  </a:ext>
                </a:extLst>
              </a:tr>
              <a:tr h="75556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Rollourt Short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729914"/>
                  </a:ext>
                </a:extLst>
              </a:tr>
              <a:tr h="75556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WIP 1st Aug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329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68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CFE0-677E-52B3-24A4-1E124EF6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882FFB-4FB0-399E-6508-5E3F1DCB97AF}"/>
              </a:ext>
            </a:extLst>
          </p:cNvPr>
          <p:cNvSpPr/>
          <p:nvPr/>
        </p:nvSpPr>
        <p:spPr>
          <a:xfrm>
            <a:off x="0" y="196139"/>
            <a:ext cx="1218349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S&amp;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OP I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Carry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Forward 346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(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Buses 232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&amp;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Trucks 114)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0D2225-A369-6FB1-F7AF-AAC15845A02B}"/>
              </a:ext>
            </a:extLst>
          </p:cNvPr>
          <p:cNvGraphicFramePr>
            <a:graphicFrameLocks noGrp="1"/>
          </p:cNvGraphicFramePr>
          <p:nvPr/>
        </p:nvGraphicFramePr>
        <p:xfrm>
          <a:off x="109651" y="570849"/>
          <a:ext cx="11116187" cy="5554430"/>
        </p:xfrm>
        <a:graphic>
          <a:graphicData uri="http://schemas.openxmlformats.org/drawingml/2006/table">
            <a:tbl>
              <a:tblPr/>
              <a:tblGrid>
                <a:gridCol w="935331">
                  <a:extLst>
                    <a:ext uri="{9D8B030D-6E8A-4147-A177-3AD203B41FA5}">
                      <a16:colId xmlns:a16="http://schemas.microsoft.com/office/drawing/2014/main" val="2281859106"/>
                    </a:ext>
                  </a:extLst>
                </a:gridCol>
                <a:gridCol w="630385">
                  <a:extLst>
                    <a:ext uri="{9D8B030D-6E8A-4147-A177-3AD203B41FA5}">
                      <a16:colId xmlns:a16="http://schemas.microsoft.com/office/drawing/2014/main" val="3497123825"/>
                    </a:ext>
                  </a:extLst>
                </a:gridCol>
                <a:gridCol w="1510006">
                  <a:extLst>
                    <a:ext uri="{9D8B030D-6E8A-4147-A177-3AD203B41FA5}">
                      <a16:colId xmlns:a16="http://schemas.microsoft.com/office/drawing/2014/main" val="2703447556"/>
                    </a:ext>
                  </a:extLst>
                </a:gridCol>
                <a:gridCol w="327319">
                  <a:extLst>
                    <a:ext uri="{9D8B030D-6E8A-4147-A177-3AD203B41FA5}">
                      <a16:colId xmlns:a16="http://schemas.microsoft.com/office/drawing/2014/main" val="2578480351"/>
                    </a:ext>
                  </a:extLst>
                </a:gridCol>
                <a:gridCol w="813828">
                  <a:extLst>
                    <a:ext uri="{9D8B030D-6E8A-4147-A177-3AD203B41FA5}">
                      <a16:colId xmlns:a16="http://schemas.microsoft.com/office/drawing/2014/main" val="4148585280"/>
                    </a:ext>
                  </a:extLst>
                </a:gridCol>
                <a:gridCol w="440268">
                  <a:extLst>
                    <a:ext uri="{9D8B030D-6E8A-4147-A177-3AD203B41FA5}">
                      <a16:colId xmlns:a16="http://schemas.microsoft.com/office/drawing/2014/main" val="1991266715"/>
                    </a:ext>
                  </a:extLst>
                </a:gridCol>
                <a:gridCol w="470287">
                  <a:extLst>
                    <a:ext uri="{9D8B030D-6E8A-4147-A177-3AD203B41FA5}">
                      <a16:colId xmlns:a16="http://schemas.microsoft.com/office/drawing/2014/main" val="1389634959"/>
                    </a:ext>
                  </a:extLst>
                </a:gridCol>
                <a:gridCol w="787146">
                  <a:extLst>
                    <a:ext uri="{9D8B030D-6E8A-4147-A177-3AD203B41FA5}">
                      <a16:colId xmlns:a16="http://schemas.microsoft.com/office/drawing/2014/main" val="4173363397"/>
                    </a:ext>
                  </a:extLst>
                </a:gridCol>
                <a:gridCol w="533658">
                  <a:extLst>
                    <a:ext uri="{9D8B030D-6E8A-4147-A177-3AD203B41FA5}">
                      <a16:colId xmlns:a16="http://schemas.microsoft.com/office/drawing/2014/main" val="1896509205"/>
                    </a:ext>
                  </a:extLst>
                </a:gridCol>
                <a:gridCol w="973926">
                  <a:extLst>
                    <a:ext uri="{9D8B030D-6E8A-4147-A177-3AD203B41FA5}">
                      <a16:colId xmlns:a16="http://schemas.microsoft.com/office/drawing/2014/main" val="1018605719"/>
                    </a:ext>
                  </a:extLst>
                </a:gridCol>
                <a:gridCol w="493633">
                  <a:extLst>
                    <a:ext uri="{9D8B030D-6E8A-4147-A177-3AD203B41FA5}">
                      <a16:colId xmlns:a16="http://schemas.microsoft.com/office/drawing/2014/main" val="139899815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759812645"/>
                    </a:ext>
                  </a:extLst>
                </a:gridCol>
              </a:tblGrid>
              <a:tr h="1484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477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477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131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346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255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91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620802"/>
                  </a:ext>
                </a:extLst>
              </a:tr>
              <a:tr h="11016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Country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Fert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Plant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Final Demand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 I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S&amp;OP II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 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Carry 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WIP For 1st Sep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Rollout 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990190"/>
                  </a:ext>
                </a:extLst>
              </a:tr>
              <a:tr h="1101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Delivery Plan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Forward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Short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70916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TANZANIA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80451232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10.90 New Sky line-P/stg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988328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ZIMBABWE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87154796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Skyline 3008, P/stg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866536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MOZAMBIQUE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87154796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Skyline 3008, P/stg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531010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QATAR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87153170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Skyline 3008-LHD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196319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UTD.ARAB EMIR.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87153556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Skyline 3008-LHD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206059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UTD.ARAB EMIR.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87153954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Skyline 3008-LHD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273890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UAE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87151634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Skyline 3008-LHD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161302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UGANDA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87153317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Skyline 3009, P/stg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BKT P/S Pump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139995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ZIMBABWE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87154898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Skyline 3009, P/stg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213762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TANZANIA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80658559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cowl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59038"/>
                  </a:ext>
                </a:extLst>
              </a:tr>
              <a:tr h="2163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UTD.ARAB EMIR.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80653910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IC376901 &amp; IC333518 _Fuel tank 395 Ltr Critical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ID373844_Fan &amp; Fan Drive assmbly Critical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294481"/>
                  </a:ext>
                </a:extLst>
              </a:tr>
              <a:tr h="2163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UTD.ARAB EMIR.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80652753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IC376901 &amp; IC333518 _Fuel tank 395 Ltr Critical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ID373844_Fan &amp; Fan Drive assmbly Critical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858266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UTD.ARAB EMIR.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80651341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766551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OMAN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80652287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20.15 LHD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496626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341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341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109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232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198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654969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MAURITIUS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85850240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1080XPT-PREMIUM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707150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Bangladesh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86803394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1114XP- CKD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 commit from NPI Side (can plan WK4)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781617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DOMINICAN REP.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85852958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2080XPT-LHD-PREMIUM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778644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UTD.ARAB EMIR.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85852958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2080XPT-LHD-PREMIUM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941552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BANGLADESH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88503886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5016-CKD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IC376901 &amp; IC333518 _Fuel tank 395 Ltr Critical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74421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 LANKA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83200480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5016T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IC385977_Talbros wear Plate Critical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290521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 Lanka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83200362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5016T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IC385977_Talbros wear Plate Critical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944025"/>
                  </a:ext>
                </a:extLst>
              </a:tr>
              <a:tr h="2163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Bangladesh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82056937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5025H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IA355241_MRF Tyre Critical (WK4)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IC376901 &amp; IC333518 _Fuel tank 395 Ltr Critical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756361"/>
                  </a:ext>
                </a:extLst>
              </a:tr>
              <a:tr h="2163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Uganda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82056935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5025H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IA355241_MRF Tyre Critical (WK4)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IC376901 &amp; IC333518 _Fuel tank 395 Ltr Critical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390416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Bangladesh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82006958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5025T-9S Bogi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ID341212_ZF India TM Critical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167366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NEPAL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91902955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6019XPT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95136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UGANDA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83453876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6025TM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13615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SOUTH AFRICA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83459512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6025TM-PREMIUM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185618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 LANKA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83453972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6025TM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BOM Not available in plant 1000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689062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NEPAL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91403566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6028XPT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044041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Nepal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97153086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 6028TM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Truck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853618"/>
                  </a:ext>
                </a:extLst>
              </a:tr>
              <a:tr h="11016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136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136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5703" marR="5703" marT="5703" marB="0" anchor="ctr">
                    <a:lnL>
                      <a:noFill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114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</a:t>
                      </a:r>
                    </a:p>
                  </a:txBody>
                  <a:tcPr marL="5703" marR="5703" marT="5703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03" marR="5703" marT="570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486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927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7D89D9-14FB-E424-17E2-4A2E64D87659}"/>
              </a:ext>
            </a:extLst>
          </p:cNvPr>
          <p:cNvSpPr/>
          <p:nvPr/>
        </p:nvSpPr>
        <p:spPr>
          <a:xfrm>
            <a:off x="103239" y="-49102"/>
            <a:ext cx="12088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b="1">
                <a:solidFill>
                  <a:srgbClr val="002060"/>
                </a:solidFill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Sep’26 - Pro X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 Display" panose="02110004020202020204"/>
              <a:ea typeface="Segoe UI Symbol" panose="020B0502040204020203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CA7F8B-58E1-8123-8129-F8E1C6BBD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817177"/>
              </p:ext>
            </p:extLst>
          </p:nvPr>
        </p:nvGraphicFramePr>
        <p:xfrm>
          <a:off x="207358" y="937539"/>
          <a:ext cx="11049526" cy="3630828"/>
        </p:xfrm>
        <a:graphic>
          <a:graphicData uri="http://schemas.openxmlformats.org/drawingml/2006/table">
            <a:tbl>
              <a:tblPr/>
              <a:tblGrid>
                <a:gridCol w="797673">
                  <a:extLst>
                    <a:ext uri="{9D8B030D-6E8A-4147-A177-3AD203B41FA5}">
                      <a16:colId xmlns:a16="http://schemas.microsoft.com/office/drawing/2014/main" val="1203238528"/>
                    </a:ext>
                  </a:extLst>
                </a:gridCol>
                <a:gridCol w="1084833">
                  <a:extLst>
                    <a:ext uri="{9D8B030D-6E8A-4147-A177-3AD203B41FA5}">
                      <a16:colId xmlns:a16="http://schemas.microsoft.com/office/drawing/2014/main" val="2124602594"/>
                    </a:ext>
                  </a:extLst>
                </a:gridCol>
                <a:gridCol w="979658">
                  <a:extLst>
                    <a:ext uri="{9D8B030D-6E8A-4147-A177-3AD203B41FA5}">
                      <a16:colId xmlns:a16="http://schemas.microsoft.com/office/drawing/2014/main" val="3278142114"/>
                    </a:ext>
                  </a:extLst>
                </a:gridCol>
                <a:gridCol w="979658">
                  <a:extLst>
                    <a:ext uri="{9D8B030D-6E8A-4147-A177-3AD203B41FA5}">
                      <a16:colId xmlns:a16="http://schemas.microsoft.com/office/drawing/2014/main" val="4236206013"/>
                    </a:ext>
                  </a:extLst>
                </a:gridCol>
                <a:gridCol w="979658">
                  <a:extLst>
                    <a:ext uri="{9D8B030D-6E8A-4147-A177-3AD203B41FA5}">
                      <a16:colId xmlns:a16="http://schemas.microsoft.com/office/drawing/2014/main" val="2713426635"/>
                    </a:ext>
                  </a:extLst>
                </a:gridCol>
                <a:gridCol w="979658">
                  <a:extLst>
                    <a:ext uri="{9D8B030D-6E8A-4147-A177-3AD203B41FA5}">
                      <a16:colId xmlns:a16="http://schemas.microsoft.com/office/drawing/2014/main" val="3547934338"/>
                    </a:ext>
                  </a:extLst>
                </a:gridCol>
                <a:gridCol w="3625418">
                  <a:extLst>
                    <a:ext uri="{9D8B030D-6E8A-4147-A177-3AD203B41FA5}">
                      <a16:colId xmlns:a16="http://schemas.microsoft.com/office/drawing/2014/main" val="3284528599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353467970"/>
                    </a:ext>
                  </a:extLst>
                </a:gridCol>
                <a:gridCol w="765765">
                  <a:extLst>
                    <a:ext uri="{9D8B030D-6E8A-4147-A177-3AD203B41FA5}">
                      <a16:colId xmlns:a16="http://schemas.microsoft.com/office/drawing/2014/main" val="2503814108"/>
                    </a:ext>
                  </a:extLst>
                </a:gridCol>
                <a:gridCol w="765765">
                  <a:extLst>
                    <a:ext uri="{9D8B030D-6E8A-4147-A177-3AD203B41FA5}">
                      <a16:colId xmlns:a16="http://schemas.microsoft.com/office/drawing/2014/main" val="118905814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X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X -  Sep '26-  SOP1 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Projection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273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 Demand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Rollout Planned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Delivery Commitment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Variance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Oct'26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Nov'26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85405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10.8ft (XL)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727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617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 veh- Material non commitment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veh- Rollout in last week -ok tag lead time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3826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CNG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veh- Material non commitment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veh- Rollout in last week -ok tag lead time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578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812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682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640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172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460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8137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9.8ft (XS)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369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 veh- Material non commitment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veh- Rollout in last week -ok tag lead time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5975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CNG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veh- Material non commitment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 veh- Rollout in last week -ok tag lead time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29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429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404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364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5665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X EV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EV-32KW-MR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 veh- Material non commitment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 veh- Rollout in last 2 days- ok tag lead time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115507"/>
                  </a:ext>
                </a:extLst>
              </a:tr>
              <a:tr h="59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EV-40KW-LR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veh- Material non commitment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veh Steel Cont.- Short from application plant (chassis rollout- W3/W4- material delay)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 veh- Rollout in last 2 days- ok tag lead time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907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264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127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137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84353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1505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1251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1131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14202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886743-BAA6-AB81-F0A6-DFF80F4D5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773588"/>
              </p:ext>
            </p:extLst>
          </p:nvPr>
        </p:nvGraphicFramePr>
        <p:xfrm>
          <a:off x="207358" y="4685050"/>
          <a:ext cx="4231294" cy="1539240"/>
        </p:xfrm>
        <a:graphic>
          <a:graphicData uri="http://schemas.openxmlformats.org/drawingml/2006/table">
            <a:tbl>
              <a:tblPr/>
              <a:tblGrid>
                <a:gridCol w="1532262">
                  <a:extLst>
                    <a:ext uri="{9D8B030D-6E8A-4147-A177-3AD203B41FA5}">
                      <a16:colId xmlns:a16="http://schemas.microsoft.com/office/drawing/2014/main" val="3939677515"/>
                    </a:ext>
                  </a:extLst>
                </a:gridCol>
                <a:gridCol w="674758">
                  <a:extLst>
                    <a:ext uri="{9D8B030D-6E8A-4147-A177-3AD203B41FA5}">
                      <a16:colId xmlns:a16="http://schemas.microsoft.com/office/drawing/2014/main" val="2748352687"/>
                    </a:ext>
                  </a:extLst>
                </a:gridCol>
                <a:gridCol w="674758">
                  <a:extLst>
                    <a:ext uri="{9D8B030D-6E8A-4147-A177-3AD203B41FA5}">
                      <a16:colId xmlns:a16="http://schemas.microsoft.com/office/drawing/2014/main" val="3125773441"/>
                    </a:ext>
                  </a:extLst>
                </a:gridCol>
                <a:gridCol w="674758">
                  <a:extLst>
                    <a:ext uri="{9D8B030D-6E8A-4147-A177-3AD203B41FA5}">
                      <a16:colId xmlns:a16="http://schemas.microsoft.com/office/drawing/2014/main" val="1187955819"/>
                    </a:ext>
                  </a:extLst>
                </a:gridCol>
                <a:gridCol w="674758">
                  <a:extLst>
                    <a:ext uri="{9D8B030D-6E8A-4147-A177-3AD203B41FA5}">
                      <a16:colId xmlns:a16="http://schemas.microsoft.com/office/drawing/2014/main" val="3225181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21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Opening FG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10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Opening WIP+RGP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144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Rollout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815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272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315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Closing FG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27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Closing WIP+RGP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9093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3B77DE-AAB8-4D62-693E-1E5F7F69A024}"/>
              </a:ext>
            </a:extLst>
          </p:cNvPr>
          <p:cNvSpPr txBox="1"/>
          <p:nvPr/>
        </p:nvSpPr>
        <p:spPr>
          <a:xfrm>
            <a:off x="103239" y="49144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Segoe UI Symbol" panose="020B0502040204020203" pitchFamily="34" charset="0"/>
                <a:cs typeface="Arial" panose="020B0604020202020204" pitchFamily="34" charset="0"/>
              </a:rPr>
              <a:t>S&amp;OP I Demand (1505), Rollout Commitment (1251) &amp; Delivery Commitment (1131)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Segoe UI Symbol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351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0BD2-7F77-1729-16F4-4395EB20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83978A-62C8-DB44-0842-05487DC4AFA1}"/>
              </a:ext>
            </a:extLst>
          </p:cNvPr>
          <p:cNvSpPr/>
          <p:nvPr/>
        </p:nvSpPr>
        <p:spPr>
          <a:xfrm>
            <a:off x="346840" y="194511"/>
            <a:ext cx="1183665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IS Orders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2EA01-7C1D-8589-2939-8B750E5EF745}"/>
              </a:ext>
            </a:extLst>
          </p:cNvPr>
          <p:cNvSpPr txBox="1"/>
          <p:nvPr/>
        </p:nvSpPr>
        <p:spPr>
          <a:xfrm>
            <a:off x="316296" y="931525"/>
            <a:ext cx="1012302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S&amp;OP I</a:t>
            </a: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Demand – 510, Delivery Commitment – 188, Rollout Commitment – 284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65C9F7-A26F-718D-5424-BA22607E5B82}"/>
              </a:ext>
            </a:extLst>
          </p:cNvPr>
          <p:cNvGraphicFramePr>
            <a:graphicFrameLocks noGrp="1"/>
          </p:cNvGraphicFramePr>
          <p:nvPr/>
        </p:nvGraphicFramePr>
        <p:xfrm>
          <a:off x="229108" y="1288366"/>
          <a:ext cx="11493537" cy="4428215"/>
        </p:xfrm>
        <a:graphic>
          <a:graphicData uri="http://schemas.openxmlformats.org/drawingml/2006/table">
            <a:tbl>
              <a:tblPr/>
              <a:tblGrid>
                <a:gridCol w="382926">
                  <a:extLst>
                    <a:ext uri="{9D8B030D-6E8A-4147-A177-3AD203B41FA5}">
                      <a16:colId xmlns:a16="http://schemas.microsoft.com/office/drawing/2014/main" val="1039179386"/>
                    </a:ext>
                  </a:extLst>
                </a:gridCol>
                <a:gridCol w="1766888">
                  <a:extLst>
                    <a:ext uri="{9D8B030D-6E8A-4147-A177-3AD203B41FA5}">
                      <a16:colId xmlns:a16="http://schemas.microsoft.com/office/drawing/2014/main" val="2006341120"/>
                    </a:ext>
                  </a:extLst>
                </a:gridCol>
                <a:gridCol w="837856">
                  <a:extLst>
                    <a:ext uri="{9D8B030D-6E8A-4147-A177-3AD203B41FA5}">
                      <a16:colId xmlns:a16="http://schemas.microsoft.com/office/drawing/2014/main" val="2321190458"/>
                    </a:ext>
                  </a:extLst>
                </a:gridCol>
                <a:gridCol w="837856">
                  <a:extLst>
                    <a:ext uri="{9D8B030D-6E8A-4147-A177-3AD203B41FA5}">
                      <a16:colId xmlns:a16="http://schemas.microsoft.com/office/drawing/2014/main" val="1331228431"/>
                    </a:ext>
                  </a:extLst>
                </a:gridCol>
                <a:gridCol w="733124">
                  <a:extLst>
                    <a:ext uri="{9D8B030D-6E8A-4147-A177-3AD203B41FA5}">
                      <a16:colId xmlns:a16="http://schemas.microsoft.com/office/drawing/2014/main" val="4064303211"/>
                    </a:ext>
                  </a:extLst>
                </a:gridCol>
                <a:gridCol w="2723031">
                  <a:extLst>
                    <a:ext uri="{9D8B030D-6E8A-4147-A177-3AD203B41FA5}">
                      <a16:colId xmlns:a16="http://schemas.microsoft.com/office/drawing/2014/main" val="3159858490"/>
                    </a:ext>
                  </a:extLst>
                </a:gridCol>
                <a:gridCol w="432020">
                  <a:extLst>
                    <a:ext uri="{9D8B030D-6E8A-4147-A177-3AD203B41FA5}">
                      <a16:colId xmlns:a16="http://schemas.microsoft.com/office/drawing/2014/main" val="3770402055"/>
                    </a:ext>
                  </a:extLst>
                </a:gridCol>
                <a:gridCol w="798582">
                  <a:extLst>
                    <a:ext uri="{9D8B030D-6E8A-4147-A177-3AD203B41FA5}">
                      <a16:colId xmlns:a16="http://schemas.microsoft.com/office/drawing/2014/main" val="2664180747"/>
                    </a:ext>
                  </a:extLst>
                </a:gridCol>
                <a:gridCol w="798582">
                  <a:extLst>
                    <a:ext uri="{9D8B030D-6E8A-4147-A177-3AD203B41FA5}">
                      <a16:colId xmlns:a16="http://schemas.microsoft.com/office/drawing/2014/main" val="782316174"/>
                    </a:ext>
                  </a:extLst>
                </a:gridCol>
                <a:gridCol w="536752">
                  <a:extLst>
                    <a:ext uri="{9D8B030D-6E8A-4147-A177-3AD203B41FA5}">
                      <a16:colId xmlns:a16="http://schemas.microsoft.com/office/drawing/2014/main" val="334640478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873456249"/>
                    </a:ext>
                  </a:extLst>
                </a:gridCol>
              </a:tblGrid>
              <a:tr h="2260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510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322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278867"/>
                  </a:ext>
                </a:extLst>
              </a:tr>
              <a:tr h="576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Sr. 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Country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Halb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S&amp;OP 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Rollout Commitment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Delivery</a:t>
                      </a:r>
                      <a:b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Commitment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224442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Department of Transport  Daman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96559420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CL4588RUP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Skl Pro 3010 L Stf CNG BS6 Esc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16015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NDRF(2)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96052078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CL4686RUP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Skl Pro 3011 L Stf Ac BSVI Rd Esc Nso#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019196"/>
                  </a:ext>
                </a:extLst>
              </a:tr>
              <a:tr h="3729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MES (247)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94754202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FERT AWAITED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Appl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Pro 2075 E Troop Carrier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BOM yet to release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~20~25 EPL parts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169947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 Sangli Police(1)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94700356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CL4871CW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Truck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Pro2075 E HSD 14F AB BSVI AC NGB 5S PRM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795736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Wardha Police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94704191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CL4871CW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Truck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Pro2075 E HSD 14F AB BSVI AC NB 5S PRM#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766333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Jammu and Kashmir (5)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94903081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CL4939CW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Appl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Pro2095 F 16F WTANK BSVI AC NB 5S WTL#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752959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CISF (2)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99702612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CL5267CW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Appl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Pro2114XP WTL H 20F BSVI DW 7S 9KL 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145006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NMRDA Nagpur (2)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99270244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99270244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Truck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Pro 2119 H CBC 17FT BSVI NGB 7S AC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237893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The State Police Chief Kerala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95158888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CL4155RUP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2070 E Srl Stf Ac BSVI Esc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444327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PRTC (100)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95159162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CL4182RUP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2075 H SRL STF DD BSVI ESC PRTC#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244871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MSRTC(100)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95159168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CL5321RUP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2075 H Srl Rp BSVI Esc MSRTC#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Proto inspection 10</a:t>
                      </a:r>
                      <a:r>
                        <a:rPr lang="en-US" sz="1000" b="0" i="0" u="none" strike="noStrike" baseline="30000"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Homologation required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493219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NDRF(1)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95153960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CL4185RUP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2075 H Srl Stf AC Nso BSVI Esc#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593034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ITBP (8)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95256806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CL5679RUP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2090 K HVAC PB (31+CD+D) Sg LX BSVI#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RCB – Non Committed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526449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ITBP Police (17)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95353961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CL4703RUP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2112 M Skl Stf Ac 24V spg BSVI Esc#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Bus Fixture to develop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328663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Haryana Power (HPGCL)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99201101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CL4954CW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Truck Plant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Pro3019 M HSDSF 22FTBSVI NGB 12V190L AC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223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9704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B584CB-0C18-4653-769B-C7EF9C7374D2}"/>
              </a:ext>
            </a:extLst>
          </p:cNvPr>
          <p:cNvSpPr/>
          <p:nvPr/>
        </p:nvSpPr>
        <p:spPr>
          <a:xfrm>
            <a:off x="-21724" y="28003"/>
            <a:ext cx="6256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Criticalities</a:t>
            </a:r>
            <a:endParaRPr kumimoji="0" lang="en-I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8AB79A-72B0-DBAA-CC12-1BAFD8D52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378547"/>
              </p:ext>
            </p:extLst>
          </p:nvPr>
        </p:nvGraphicFramePr>
        <p:xfrm>
          <a:off x="128745" y="481673"/>
          <a:ext cx="11789985" cy="4657885"/>
        </p:xfrm>
        <a:graphic>
          <a:graphicData uri="http://schemas.openxmlformats.org/drawingml/2006/table">
            <a:tbl>
              <a:tblPr/>
              <a:tblGrid>
                <a:gridCol w="391700">
                  <a:extLst>
                    <a:ext uri="{9D8B030D-6E8A-4147-A177-3AD203B41FA5}">
                      <a16:colId xmlns:a16="http://schemas.microsoft.com/office/drawing/2014/main" val="1960078620"/>
                    </a:ext>
                  </a:extLst>
                </a:gridCol>
                <a:gridCol w="778176">
                  <a:extLst>
                    <a:ext uri="{9D8B030D-6E8A-4147-A177-3AD203B41FA5}">
                      <a16:colId xmlns:a16="http://schemas.microsoft.com/office/drawing/2014/main" val="990051346"/>
                    </a:ext>
                  </a:extLst>
                </a:gridCol>
                <a:gridCol w="3634119">
                  <a:extLst>
                    <a:ext uri="{9D8B030D-6E8A-4147-A177-3AD203B41FA5}">
                      <a16:colId xmlns:a16="http://schemas.microsoft.com/office/drawing/2014/main" val="638308073"/>
                    </a:ext>
                  </a:extLst>
                </a:gridCol>
                <a:gridCol w="3148682">
                  <a:extLst>
                    <a:ext uri="{9D8B030D-6E8A-4147-A177-3AD203B41FA5}">
                      <a16:colId xmlns:a16="http://schemas.microsoft.com/office/drawing/2014/main" val="1134331329"/>
                    </a:ext>
                  </a:extLst>
                </a:gridCol>
                <a:gridCol w="3837308">
                  <a:extLst>
                    <a:ext uri="{9D8B030D-6E8A-4147-A177-3AD203B41FA5}">
                      <a16:colId xmlns:a16="http://schemas.microsoft.com/office/drawing/2014/main" val="2356517371"/>
                    </a:ext>
                  </a:extLst>
                </a:gridCol>
              </a:tblGrid>
              <a:tr h="4440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No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Critical Point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Critical Item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594241"/>
                  </a:ext>
                </a:extLst>
              </a:tr>
              <a:tr h="66146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Order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 veh  -Pro 2075  Troop Carrier(MES Order)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BOM needed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(Dozing unit to add)--Expected Next Week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247-Chassis rollout planned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50-Delivery Outlook(Lead time /Capacity Troop carrier)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272849"/>
                  </a:ext>
                </a:extLst>
              </a:tr>
              <a:tr h="66146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MSRTC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veh bus  Order (Pro 2075)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Proto built up bus to show by 10th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delivery commitment --NIL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Chassis  opening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 structuring done, under paneling process and rollout by 7th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506641"/>
                  </a:ext>
                </a:extLst>
              </a:tr>
              <a:tr h="4440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 Bus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140-Skyline Pro E 3012 EV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Outlook-30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Matl 50 for rollout available(30 OK Tag)-Mattrey motors(Lead time)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369028"/>
                  </a:ext>
                </a:extLst>
              </a:tr>
              <a:tr h="87889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X EV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124-32KW,  140 -40KW 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skewed,short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commitment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Rollout commitment  after 15th Onwards(WK3 onwards)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40-KW 140 demand-100 Rollout-69 delivery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kw-124 demand- 65 rollout--60 delivery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 committed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month shortfall-94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804232"/>
                  </a:ext>
                </a:extLst>
              </a:tr>
              <a:tr h="66146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X CNG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Demand-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Skewed,short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committed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Rollout commitment  after 15th Onwards(WK3 onwards)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 demand-100 rollout-69 delivery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 committed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month shortfall-40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649532"/>
                  </a:ext>
                </a:extLst>
              </a:tr>
              <a:tr h="2266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Bus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2112  Bus Rush Order( ITBP Police)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 Plant Facility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Doable of Pro 2112--Fixture modification need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655592"/>
                  </a:ext>
                </a:extLst>
              </a:tr>
              <a:tr h="22662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Exports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UD Needed  with--Next Year Model  code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(for  single code of South Africa country) 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 (PD) Standards to change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Mex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Doability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production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envoirnment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Currently-Not  fiseability not committed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667317"/>
                  </a:ext>
                </a:extLst>
              </a:tr>
              <a:tr h="2266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(Sales chasing for  doability)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581115"/>
                  </a:ext>
                </a:extLst>
              </a:tr>
              <a:tr h="226624">
                <a:tc gridSpan="5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Focus Areas--Pro 2000 Cabin --200/day</a:t>
                      </a:r>
                    </a:p>
                  </a:txBody>
                  <a:tcPr marL="7740" marR="7740" marT="774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53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384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AC428-C420-1A22-3690-99669D75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8646F5-49BF-4DC0-48F2-D329103B5FE3}"/>
              </a:ext>
            </a:extLst>
          </p:cNvPr>
          <p:cNvSpPr/>
          <p:nvPr/>
        </p:nvSpPr>
        <p:spPr>
          <a:xfrm>
            <a:off x="3367039" y="2874220"/>
            <a:ext cx="50222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4229613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0373"/>
            <a:ext cx="1218349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Exports Order Book &amp; Supply Plan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CB5FC1-16AF-6F3D-84CD-F9B6DE359DA6}"/>
              </a:ext>
            </a:extLst>
          </p:cNvPr>
          <p:cNvSpPr/>
          <p:nvPr/>
        </p:nvSpPr>
        <p:spPr>
          <a:xfrm>
            <a:off x="572509" y="692996"/>
            <a:ext cx="5705391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Exports S&amp;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OP I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1570AE-3F8E-D225-62EA-DB293A6EE30E}"/>
              </a:ext>
            </a:extLst>
          </p:cNvPr>
          <p:cNvSpPr/>
          <p:nvPr/>
        </p:nvSpPr>
        <p:spPr>
          <a:xfrm>
            <a:off x="423732" y="1072578"/>
            <a:ext cx="7326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Opening FG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</a:t>
            </a:r>
            <a:r>
              <a:rPr lang="en-US" sz="1200" b="1">
                <a:solidFill>
                  <a:srgbClr val="0000FF"/>
                </a:solidFill>
                <a:latin typeface="Calibri" panose="020F0502020204030204"/>
              </a:rPr>
              <a:t>507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Executable orders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1050 ( 613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&amp; 437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Buses)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 Two Month Projections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620 &amp; 493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8E281C-50AF-F784-DDEB-99757597D385}"/>
              </a:ext>
            </a:extLst>
          </p:cNvPr>
          <p:cNvGraphicFramePr>
            <a:graphicFrameLocks noGrp="1"/>
          </p:cNvGraphicFramePr>
          <p:nvPr/>
        </p:nvGraphicFramePr>
        <p:xfrm>
          <a:off x="498120" y="1855595"/>
          <a:ext cx="5854168" cy="1949410"/>
        </p:xfrm>
        <a:graphic>
          <a:graphicData uri="http://schemas.openxmlformats.org/drawingml/2006/table">
            <a:tbl>
              <a:tblPr/>
              <a:tblGrid>
                <a:gridCol w="1360729">
                  <a:extLst>
                    <a:ext uri="{9D8B030D-6E8A-4147-A177-3AD203B41FA5}">
                      <a16:colId xmlns:a16="http://schemas.microsoft.com/office/drawing/2014/main" val="4037905101"/>
                    </a:ext>
                  </a:extLst>
                </a:gridCol>
                <a:gridCol w="544213">
                  <a:extLst>
                    <a:ext uri="{9D8B030D-6E8A-4147-A177-3AD203B41FA5}">
                      <a16:colId xmlns:a16="http://schemas.microsoft.com/office/drawing/2014/main" val="930822058"/>
                    </a:ext>
                  </a:extLst>
                </a:gridCol>
                <a:gridCol w="361819">
                  <a:extLst>
                    <a:ext uri="{9D8B030D-6E8A-4147-A177-3AD203B41FA5}">
                      <a16:colId xmlns:a16="http://schemas.microsoft.com/office/drawing/2014/main" val="2778782015"/>
                    </a:ext>
                  </a:extLst>
                </a:gridCol>
                <a:gridCol w="544213">
                  <a:extLst>
                    <a:ext uri="{9D8B030D-6E8A-4147-A177-3AD203B41FA5}">
                      <a16:colId xmlns:a16="http://schemas.microsoft.com/office/drawing/2014/main" val="2312813569"/>
                    </a:ext>
                  </a:extLst>
                </a:gridCol>
                <a:gridCol w="538259">
                  <a:extLst>
                    <a:ext uri="{9D8B030D-6E8A-4147-A177-3AD203B41FA5}">
                      <a16:colId xmlns:a16="http://schemas.microsoft.com/office/drawing/2014/main" val="3330006866"/>
                    </a:ext>
                  </a:extLst>
                </a:gridCol>
                <a:gridCol w="500987">
                  <a:extLst>
                    <a:ext uri="{9D8B030D-6E8A-4147-A177-3AD203B41FA5}">
                      <a16:colId xmlns:a16="http://schemas.microsoft.com/office/drawing/2014/main" val="3555919104"/>
                    </a:ext>
                  </a:extLst>
                </a:gridCol>
                <a:gridCol w="500987">
                  <a:extLst>
                    <a:ext uri="{9D8B030D-6E8A-4147-A177-3AD203B41FA5}">
                      <a16:colId xmlns:a16="http://schemas.microsoft.com/office/drawing/2014/main" val="2442179711"/>
                    </a:ext>
                  </a:extLst>
                </a:gridCol>
                <a:gridCol w="500987">
                  <a:extLst>
                    <a:ext uri="{9D8B030D-6E8A-4147-A177-3AD203B41FA5}">
                      <a16:colId xmlns:a16="http://schemas.microsoft.com/office/drawing/2014/main" val="1168116573"/>
                    </a:ext>
                  </a:extLst>
                </a:gridCol>
                <a:gridCol w="500987">
                  <a:extLst>
                    <a:ext uri="{9D8B030D-6E8A-4147-A177-3AD203B41FA5}">
                      <a16:colId xmlns:a16="http://schemas.microsoft.com/office/drawing/2014/main" val="366384362"/>
                    </a:ext>
                  </a:extLst>
                </a:gridCol>
                <a:gridCol w="500987">
                  <a:extLst>
                    <a:ext uri="{9D8B030D-6E8A-4147-A177-3AD203B41FA5}">
                      <a16:colId xmlns:a16="http://schemas.microsoft.com/office/drawing/2014/main" val="668182069"/>
                    </a:ext>
                  </a:extLst>
                </a:gridCol>
              </a:tblGrid>
              <a:tr h="21619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S&amp;OP I  Plan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S&amp;OP II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 MTD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67151"/>
                  </a:ext>
                </a:extLst>
              </a:tr>
              <a:tr h="2198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891191"/>
                  </a:ext>
                </a:extLst>
              </a:tr>
              <a:tr h="2161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 Demand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28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860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789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7198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648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576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5067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4361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878558"/>
                  </a:ext>
                </a:extLst>
              </a:tr>
              <a:tr h="2161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Delivery by 31</a:t>
                      </a:r>
                      <a:r>
                        <a:rPr lang="en-IN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916656"/>
                  </a:ext>
                </a:extLst>
              </a:tr>
              <a:tr h="2161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Billable by 31</a:t>
                      </a:r>
                      <a:r>
                        <a:rPr lang="en-IN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104936"/>
                  </a:ext>
                </a:extLst>
              </a:tr>
              <a:tr h="2161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Billable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85" marR="36000" marT="608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856558"/>
                  </a:ext>
                </a:extLst>
              </a:tr>
              <a:tr h="2161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Carry Forward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28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860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789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7198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6480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5763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5067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4361" algn="l" defTabSz="12186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815130"/>
                  </a:ext>
                </a:extLst>
              </a:tr>
              <a:tr h="21619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Rollourt Short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729914"/>
                  </a:ext>
                </a:extLst>
              </a:tr>
              <a:tr h="21619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WIP 1st Aug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47" marR="36000" marT="568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32937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0FF6850-5B91-5AD3-409D-8C4C38C1F2A3}"/>
              </a:ext>
            </a:extLst>
          </p:cNvPr>
          <p:cNvSpPr txBox="1"/>
          <p:nvPr/>
        </p:nvSpPr>
        <p:spPr>
          <a:xfrm>
            <a:off x="498120" y="3884049"/>
            <a:ext cx="33232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Vehicles availability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- 1211 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Opening FG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lang="en-US" sz="1100">
                <a:solidFill>
                  <a:prstClr val="black"/>
                </a:solidFill>
                <a:latin typeface="Calibri" panose="020F0502020204030204"/>
              </a:rPr>
              <a:t>507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Fresh supplies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704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590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5D6557-3EE0-8876-BA16-ACEA7AA2CA71}"/>
              </a:ext>
            </a:extLst>
          </p:cNvPr>
          <p:cNvSpPr/>
          <p:nvPr/>
        </p:nvSpPr>
        <p:spPr>
          <a:xfrm>
            <a:off x="0" y="196139"/>
            <a:ext cx="1218349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S&amp;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OP I Non-Billable 83 (Bus 59 &amp; Trucks 24)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93A086-D23B-217E-0873-98C71BBC2AF0}"/>
              </a:ext>
            </a:extLst>
          </p:cNvPr>
          <p:cNvGraphicFramePr>
            <a:graphicFrameLocks noGrp="1"/>
          </p:cNvGraphicFramePr>
          <p:nvPr/>
        </p:nvGraphicFramePr>
        <p:xfrm>
          <a:off x="139698" y="692394"/>
          <a:ext cx="11760204" cy="3587510"/>
        </p:xfrm>
        <a:graphic>
          <a:graphicData uri="http://schemas.openxmlformats.org/drawingml/2006/table">
            <a:tbl>
              <a:tblPr/>
              <a:tblGrid>
                <a:gridCol w="1013638">
                  <a:extLst>
                    <a:ext uri="{9D8B030D-6E8A-4147-A177-3AD203B41FA5}">
                      <a16:colId xmlns:a16="http://schemas.microsoft.com/office/drawing/2014/main" val="1879777469"/>
                    </a:ext>
                  </a:extLst>
                </a:gridCol>
                <a:gridCol w="550165">
                  <a:extLst>
                    <a:ext uri="{9D8B030D-6E8A-4147-A177-3AD203B41FA5}">
                      <a16:colId xmlns:a16="http://schemas.microsoft.com/office/drawing/2014/main" val="447295667"/>
                    </a:ext>
                  </a:extLst>
                </a:gridCol>
                <a:gridCol w="630190">
                  <a:extLst>
                    <a:ext uri="{9D8B030D-6E8A-4147-A177-3AD203B41FA5}">
                      <a16:colId xmlns:a16="http://schemas.microsoft.com/office/drawing/2014/main" val="1151752917"/>
                    </a:ext>
                  </a:extLst>
                </a:gridCol>
                <a:gridCol w="1390418">
                  <a:extLst>
                    <a:ext uri="{9D8B030D-6E8A-4147-A177-3AD203B41FA5}">
                      <a16:colId xmlns:a16="http://schemas.microsoft.com/office/drawing/2014/main" val="3329305229"/>
                    </a:ext>
                  </a:extLst>
                </a:gridCol>
                <a:gridCol w="666868">
                  <a:extLst>
                    <a:ext uri="{9D8B030D-6E8A-4147-A177-3AD203B41FA5}">
                      <a16:colId xmlns:a16="http://schemas.microsoft.com/office/drawing/2014/main" val="2211972629"/>
                    </a:ext>
                  </a:extLst>
                </a:gridCol>
                <a:gridCol w="582398">
                  <a:extLst>
                    <a:ext uri="{9D8B030D-6E8A-4147-A177-3AD203B41FA5}">
                      <a16:colId xmlns:a16="http://schemas.microsoft.com/office/drawing/2014/main" val="3085143688"/>
                    </a:ext>
                  </a:extLst>
                </a:gridCol>
                <a:gridCol w="582398">
                  <a:extLst>
                    <a:ext uri="{9D8B030D-6E8A-4147-A177-3AD203B41FA5}">
                      <a16:colId xmlns:a16="http://schemas.microsoft.com/office/drawing/2014/main" val="757626882"/>
                    </a:ext>
                  </a:extLst>
                </a:gridCol>
                <a:gridCol w="582398">
                  <a:extLst>
                    <a:ext uri="{9D8B030D-6E8A-4147-A177-3AD203B41FA5}">
                      <a16:colId xmlns:a16="http://schemas.microsoft.com/office/drawing/2014/main" val="3926260662"/>
                    </a:ext>
                  </a:extLst>
                </a:gridCol>
                <a:gridCol w="582398">
                  <a:extLst>
                    <a:ext uri="{9D8B030D-6E8A-4147-A177-3AD203B41FA5}">
                      <a16:colId xmlns:a16="http://schemas.microsoft.com/office/drawing/2014/main" val="217827180"/>
                    </a:ext>
                  </a:extLst>
                </a:gridCol>
                <a:gridCol w="582398">
                  <a:extLst>
                    <a:ext uri="{9D8B030D-6E8A-4147-A177-3AD203B41FA5}">
                      <a16:colId xmlns:a16="http://schemas.microsoft.com/office/drawing/2014/main" val="1736463495"/>
                    </a:ext>
                  </a:extLst>
                </a:gridCol>
                <a:gridCol w="582398">
                  <a:extLst>
                    <a:ext uri="{9D8B030D-6E8A-4147-A177-3AD203B41FA5}">
                      <a16:colId xmlns:a16="http://schemas.microsoft.com/office/drawing/2014/main" val="655008571"/>
                    </a:ext>
                  </a:extLst>
                </a:gridCol>
                <a:gridCol w="293421">
                  <a:extLst>
                    <a:ext uri="{9D8B030D-6E8A-4147-A177-3AD203B41FA5}">
                      <a16:colId xmlns:a16="http://schemas.microsoft.com/office/drawing/2014/main" val="508673359"/>
                    </a:ext>
                  </a:extLst>
                </a:gridCol>
                <a:gridCol w="293421">
                  <a:extLst>
                    <a:ext uri="{9D8B030D-6E8A-4147-A177-3AD203B41FA5}">
                      <a16:colId xmlns:a16="http://schemas.microsoft.com/office/drawing/2014/main" val="1804138425"/>
                    </a:ext>
                  </a:extLst>
                </a:gridCol>
                <a:gridCol w="293421">
                  <a:extLst>
                    <a:ext uri="{9D8B030D-6E8A-4147-A177-3AD203B41FA5}">
                      <a16:colId xmlns:a16="http://schemas.microsoft.com/office/drawing/2014/main" val="2573773612"/>
                    </a:ext>
                  </a:extLst>
                </a:gridCol>
                <a:gridCol w="293421">
                  <a:extLst>
                    <a:ext uri="{9D8B030D-6E8A-4147-A177-3AD203B41FA5}">
                      <a16:colId xmlns:a16="http://schemas.microsoft.com/office/drawing/2014/main" val="1260693768"/>
                    </a:ext>
                  </a:extLst>
                </a:gridCol>
                <a:gridCol w="293421">
                  <a:extLst>
                    <a:ext uri="{9D8B030D-6E8A-4147-A177-3AD203B41FA5}">
                      <a16:colId xmlns:a16="http://schemas.microsoft.com/office/drawing/2014/main" val="2460363543"/>
                    </a:ext>
                  </a:extLst>
                </a:gridCol>
                <a:gridCol w="2547432">
                  <a:extLst>
                    <a:ext uri="{9D8B030D-6E8A-4147-A177-3AD203B41FA5}">
                      <a16:colId xmlns:a16="http://schemas.microsoft.com/office/drawing/2014/main" val="3300468804"/>
                    </a:ext>
                  </a:extLst>
                </a:gridCol>
              </a:tblGrid>
              <a:tr h="22077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8360"/>
                  </a:ext>
                </a:extLst>
              </a:tr>
              <a:tr h="4415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Country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Fert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Halb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 Demand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S&amp;OP I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S&amp;OP II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Delivery Plan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Billable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Non-Billable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26th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27th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28th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29th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30th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59500"/>
                  </a:ext>
                </a:extLst>
              </a:tr>
              <a:tr h="2207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Sri Lanka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80752508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CL5261RUP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10.75 New Sky line-P/stg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7272"/>
                  </a:ext>
                </a:extLst>
              </a:tr>
              <a:tr h="2207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ZIMBABWE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87153526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CL5731RUP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Skyline 3009, P/stg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662425"/>
                  </a:ext>
                </a:extLst>
              </a:tr>
              <a:tr h="2207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ZIMBABWE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87154898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CL3951RUP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Skyline 3009, P/stg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649544"/>
                  </a:ext>
                </a:extLst>
              </a:tr>
              <a:tr h="2318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UTD.ARAB EMIR.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80651341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CL6640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20.15 LHD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 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329606"/>
                  </a:ext>
                </a:extLst>
              </a:tr>
              <a:tr h="2318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132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132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485206"/>
                  </a:ext>
                </a:extLst>
              </a:tr>
              <a:tr h="231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90329"/>
                  </a:ext>
                </a:extLst>
              </a:tr>
              <a:tr h="2207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GHANA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86702230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86702230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2049-LHD-P/stg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 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890738"/>
                  </a:ext>
                </a:extLst>
              </a:tr>
              <a:tr h="2207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IVORY COAST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86001375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CL4698CW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2065-LHD, P/stg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 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139748"/>
                  </a:ext>
                </a:extLst>
              </a:tr>
              <a:tr h="2207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DEM. REP. CONGO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85808341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CL4388CW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2080LX- LHD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 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90305"/>
                  </a:ext>
                </a:extLst>
              </a:tr>
              <a:tr h="2207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MAURITIUS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85803132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85803132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2080-PREMIUM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 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670701"/>
                  </a:ext>
                </a:extLst>
              </a:tr>
              <a:tr h="2207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UTD.ARAB EMIR.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85602760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85602760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2095XP-LHD Premium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 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056430"/>
                  </a:ext>
                </a:extLst>
              </a:tr>
              <a:tr h="2318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AFRICA</a:t>
                      </a:r>
                    </a:p>
                  </a:txBody>
                  <a:tcPr marL="8952" marR="8952" marT="895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81408718</a:t>
                      </a:r>
                    </a:p>
                  </a:txBody>
                  <a:tcPr marL="8952" marR="8952" marT="895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81408718</a:t>
                      </a:r>
                    </a:p>
                  </a:txBody>
                  <a:tcPr marL="8952" marR="8952" marT="895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6018TT-PREMIUM</a:t>
                      </a:r>
                    </a:p>
                  </a:txBody>
                  <a:tcPr marL="8952" marR="8952" marT="8952" marB="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Truck Plant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257104"/>
                  </a:ext>
                </a:extLst>
              </a:tr>
              <a:tr h="23180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2" marR="8952" marT="8952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8952" marR="8952" marT="895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2" marR="8952" marT="8952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686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567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4C513-BC2F-A0BB-F8D9-F7DA99789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20C768-2F49-B093-9A7E-0BC382331361}"/>
              </a:ext>
            </a:extLst>
          </p:cNvPr>
          <p:cNvSpPr/>
          <p:nvPr/>
        </p:nvSpPr>
        <p:spPr>
          <a:xfrm>
            <a:off x="64268" y="123198"/>
            <a:ext cx="1209620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1600" b="1" i="1" dirty="0">
                <a:solidFill>
                  <a:prstClr val="black"/>
                </a:solidFill>
                <a:latin typeface="Calibri"/>
              </a:rPr>
              <a:t>Bus Production status-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AE27E3-F4E4-DE69-ADEE-B61BAEA85C0D}"/>
              </a:ext>
            </a:extLst>
          </p:cNvPr>
          <p:cNvSpPr/>
          <p:nvPr/>
        </p:nvSpPr>
        <p:spPr>
          <a:xfrm>
            <a:off x="95798" y="3311570"/>
            <a:ext cx="1209620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Market Cowl</a:t>
            </a:r>
            <a:endParaRPr kumimoji="0" lang="en-US" altLang="en-US" sz="16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153AE9-E02A-B390-D4DA-C3A323B2C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504551"/>
              </p:ext>
            </p:extLst>
          </p:nvPr>
        </p:nvGraphicFramePr>
        <p:xfrm>
          <a:off x="95799" y="3709971"/>
          <a:ext cx="5496541" cy="2480310"/>
        </p:xfrm>
        <a:graphic>
          <a:graphicData uri="http://schemas.openxmlformats.org/drawingml/2006/table">
            <a:tbl>
              <a:tblPr/>
              <a:tblGrid>
                <a:gridCol w="1709186">
                  <a:extLst>
                    <a:ext uri="{9D8B030D-6E8A-4147-A177-3AD203B41FA5}">
                      <a16:colId xmlns:a16="http://schemas.microsoft.com/office/drawing/2014/main" val="4237406145"/>
                    </a:ext>
                  </a:extLst>
                </a:gridCol>
                <a:gridCol w="499488">
                  <a:extLst>
                    <a:ext uri="{9D8B030D-6E8A-4147-A177-3AD203B41FA5}">
                      <a16:colId xmlns:a16="http://schemas.microsoft.com/office/drawing/2014/main" val="3240971245"/>
                    </a:ext>
                  </a:extLst>
                </a:gridCol>
                <a:gridCol w="460466">
                  <a:extLst>
                    <a:ext uri="{9D8B030D-6E8A-4147-A177-3AD203B41FA5}">
                      <a16:colId xmlns:a16="http://schemas.microsoft.com/office/drawing/2014/main" val="4041609804"/>
                    </a:ext>
                  </a:extLst>
                </a:gridCol>
                <a:gridCol w="631734">
                  <a:extLst>
                    <a:ext uri="{9D8B030D-6E8A-4147-A177-3AD203B41FA5}">
                      <a16:colId xmlns:a16="http://schemas.microsoft.com/office/drawing/2014/main" val="1343340301"/>
                    </a:ext>
                  </a:extLst>
                </a:gridCol>
                <a:gridCol w="478676">
                  <a:extLst>
                    <a:ext uri="{9D8B030D-6E8A-4147-A177-3AD203B41FA5}">
                      <a16:colId xmlns:a16="http://schemas.microsoft.com/office/drawing/2014/main" val="3716062715"/>
                    </a:ext>
                  </a:extLst>
                </a:gridCol>
                <a:gridCol w="468270">
                  <a:extLst>
                    <a:ext uri="{9D8B030D-6E8A-4147-A177-3AD203B41FA5}">
                      <a16:colId xmlns:a16="http://schemas.microsoft.com/office/drawing/2014/main" val="1761417077"/>
                    </a:ext>
                  </a:extLst>
                </a:gridCol>
                <a:gridCol w="1248721">
                  <a:extLst>
                    <a:ext uri="{9D8B030D-6E8A-4147-A177-3AD203B41FA5}">
                      <a16:colId xmlns:a16="http://schemas.microsoft.com/office/drawing/2014/main" val="129851083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Models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S&amp;OP I Demand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Commitment 25th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644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Rollout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Delivery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01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 (Market Cowl)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377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3009 RAS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48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3010 RAS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96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 3014-Market Cowl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821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Market Cowl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612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LMD Market Cowl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269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361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6016-Market Cowl WAS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6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6019-Market Cowl WAS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741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6019-Market Cowl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13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3016-Market Cowl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728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HD Market Cowl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422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Market Cowl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691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94C211-BFD6-42BE-9452-807BF664C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248672"/>
              </p:ext>
            </p:extLst>
          </p:nvPr>
        </p:nvGraphicFramePr>
        <p:xfrm>
          <a:off x="95798" y="1432498"/>
          <a:ext cx="10545537" cy="1779333"/>
        </p:xfrm>
        <a:graphic>
          <a:graphicData uri="http://schemas.openxmlformats.org/drawingml/2006/table">
            <a:tbl>
              <a:tblPr firstRow="1" firstCol="1" bandRow="1"/>
              <a:tblGrid>
                <a:gridCol w="1466999">
                  <a:extLst>
                    <a:ext uri="{9D8B030D-6E8A-4147-A177-3AD203B41FA5}">
                      <a16:colId xmlns:a16="http://schemas.microsoft.com/office/drawing/2014/main" val="951699597"/>
                    </a:ext>
                  </a:extLst>
                </a:gridCol>
                <a:gridCol w="509192">
                  <a:extLst>
                    <a:ext uri="{9D8B030D-6E8A-4147-A177-3AD203B41FA5}">
                      <a16:colId xmlns:a16="http://schemas.microsoft.com/office/drawing/2014/main" val="1090528619"/>
                    </a:ext>
                  </a:extLst>
                </a:gridCol>
                <a:gridCol w="509192">
                  <a:extLst>
                    <a:ext uri="{9D8B030D-6E8A-4147-A177-3AD203B41FA5}">
                      <a16:colId xmlns:a16="http://schemas.microsoft.com/office/drawing/2014/main" val="2006374828"/>
                    </a:ext>
                  </a:extLst>
                </a:gridCol>
                <a:gridCol w="509192">
                  <a:extLst>
                    <a:ext uri="{9D8B030D-6E8A-4147-A177-3AD203B41FA5}">
                      <a16:colId xmlns:a16="http://schemas.microsoft.com/office/drawing/2014/main" val="2175623770"/>
                    </a:ext>
                  </a:extLst>
                </a:gridCol>
                <a:gridCol w="509192">
                  <a:extLst>
                    <a:ext uri="{9D8B030D-6E8A-4147-A177-3AD203B41FA5}">
                      <a16:colId xmlns:a16="http://schemas.microsoft.com/office/drawing/2014/main" val="2915938996"/>
                    </a:ext>
                  </a:extLst>
                </a:gridCol>
                <a:gridCol w="509192">
                  <a:extLst>
                    <a:ext uri="{9D8B030D-6E8A-4147-A177-3AD203B41FA5}">
                      <a16:colId xmlns:a16="http://schemas.microsoft.com/office/drawing/2014/main" val="1253888440"/>
                    </a:ext>
                  </a:extLst>
                </a:gridCol>
                <a:gridCol w="560549">
                  <a:extLst>
                    <a:ext uri="{9D8B030D-6E8A-4147-A177-3AD203B41FA5}">
                      <a16:colId xmlns:a16="http://schemas.microsoft.com/office/drawing/2014/main" val="1118406961"/>
                    </a:ext>
                  </a:extLst>
                </a:gridCol>
                <a:gridCol w="474075">
                  <a:extLst>
                    <a:ext uri="{9D8B030D-6E8A-4147-A177-3AD203B41FA5}">
                      <a16:colId xmlns:a16="http://schemas.microsoft.com/office/drawing/2014/main" val="1506264214"/>
                    </a:ext>
                  </a:extLst>
                </a:gridCol>
                <a:gridCol w="474075">
                  <a:extLst>
                    <a:ext uri="{9D8B030D-6E8A-4147-A177-3AD203B41FA5}">
                      <a16:colId xmlns:a16="http://schemas.microsoft.com/office/drawing/2014/main" val="3030741755"/>
                    </a:ext>
                  </a:extLst>
                </a:gridCol>
                <a:gridCol w="474075">
                  <a:extLst>
                    <a:ext uri="{9D8B030D-6E8A-4147-A177-3AD203B41FA5}">
                      <a16:colId xmlns:a16="http://schemas.microsoft.com/office/drawing/2014/main" val="128729594"/>
                    </a:ext>
                  </a:extLst>
                </a:gridCol>
                <a:gridCol w="474075">
                  <a:extLst>
                    <a:ext uri="{9D8B030D-6E8A-4147-A177-3AD203B41FA5}">
                      <a16:colId xmlns:a16="http://schemas.microsoft.com/office/drawing/2014/main" val="1226714217"/>
                    </a:ext>
                  </a:extLst>
                </a:gridCol>
                <a:gridCol w="474075">
                  <a:extLst>
                    <a:ext uri="{9D8B030D-6E8A-4147-A177-3AD203B41FA5}">
                      <a16:colId xmlns:a16="http://schemas.microsoft.com/office/drawing/2014/main" val="303987096"/>
                    </a:ext>
                  </a:extLst>
                </a:gridCol>
                <a:gridCol w="560549">
                  <a:extLst>
                    <a:ext uri="{9D8B030D-6E8A-4147-A177-3AD203B41FA5}">
                      <a16:colId xmlns:a16="http://schemas.microsoft.com/office/drawing/2014/main" val="1366198773"/>
                    </a:ext>
                  </a:extLst>
                </a:gridCol>
                <a:gridCol w="456517">
                  <a:extLst>
                    <a:ext uri="{9D8B030D-6E8A-4147-A177-3AD203B41FA5}">
                      <a16:colId xmlns:a16="http://schemas.microsoft.com/office/drawing/2014/main" val="2523582638"/>
                    </a:ext>
                  </a:extLst>
                </a:gridCol>
                <a:gridCol w="456517">
                  <a:extLst>
                    <a:ext uri="{9D8B030D-6E8A-4147-A177-3AD203B41FA5}">
                      <a16:colId xmlns:a16="http://schemas.microsoft.com/office/drawing/2014/main" val="1089218078"/>
                    </a:ext>
                  </a:extLst>
                </a:gridCol>
                <a:gridCol w="456517">
                  <a:extLst>
                    <a:ext uri="{9D8B030D-6E8A-4147-A177-3AD203B41FA5}">
                      <a16:colId xmlns:a16="http://schemas.microsoft.com/office/drawing/2014/main" val="86268220"/>
                    </a:ext>
                  </a:extLst>
                </a:gridCol>
                <a:gridCol w="456517">
                  <a:extLst>
                    <a:ext uri="{9D8B030D-6E8A-4147-A177-3AD203B41FA5}">
                      <a16:colId xmlns:a16="http://schemas.microsoft.com/office/drawing/2014/main" val="4117063155"/>
                    </a:ext>
                  </a:extLst>
                </a:gridCol>
                <a:gridCol w="456517">
                  <a:extLst>
                    <a:ext uri="{9D8B030D-6E8A-4147-A177-3AD203B41FA5}">
                      <a16:colId xmlns:a16="http://schemas.microsoft.com/office/drawing/2014/main" val="2273783717"/>
                    </a:ext>
                  </a:extLst>
                </a:gridCol>
                <a:gridCol w="758520">
                  <a:extLst>
                    <a:ext uri="{9D8B030D-6E8A-4147-A177-3AD203B41FA5}">
                      <a16:colId xmlns:a16="http://schemas.microsoft.com/office/drawing/2014/main" val="2998902788"/>
                    </a:ext>
                  </a:extLst>
                </a:gridCol>
              </a:tblGrid>
              <a:tr h="1715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Sales Demand 18th (S&amp;OP I)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Rollout Plan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Delivery Commitment (S&amp;OP I)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489006"/>
                  </a:ext>
                </a:extLst>
              </a:tr>
              <a:tr h="1715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Pvt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EV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Exp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NPI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Pvt*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EV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Exp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NPI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Pvt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EV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Exp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NPI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587508"/>
                  </a:ext>
                </a:extLst>
              </a:tr>
              <a:tr h="2358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Built-up-Bus Plant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216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246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148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431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1045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222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127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231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636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227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129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586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047827"/>
                  </a:ext>
                </a:extLst>
              </a:tr>
              <a:tr h="1715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Market Cowl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319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347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319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345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319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345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83811"/>
                  </a:ext>
                </a:extLst>
              </a:tr>
              <a:tr h="1715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Contract Mfg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853969"/>
                  </a:ext>
                </a:extLst>
              </a:tr>
              <a:tr h="1715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Audi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811760"/>
                  </a:ext>
                </a:extLst>
              </a:tr>
              <a:tr h="1715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JCBL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812"/>
                  </a:ext>
                </a:extLst>
              </a:tr>
              <a:tr h="1715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RCB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534672"/>
                  </a:ext>
                </a:extLst>
              </a:tr>
              <a:tr h="1715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SMK/MGX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892881"/>
                  </a:ext>
                </a:extLst>
              </a:tr>
              <a:tr h="1715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G 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535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254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148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459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1406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541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127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263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991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546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129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232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941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33631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41EED30-130A-0583-5F87-F67ABFF76E7F}"/>
              </a:ext>
            </a:extLst>
          </p:cNvPr>
          <p:cNvSpPr txBox="1"/>
          <p:nvPr/>
        </p:nvSpPr>
        <p:spPr>
          <a:xfrm>
            <a:off x="64268" y="441589"/>
            <a:ext cx="5460386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Bus Plant Demand 1045, Delivery Commitment – 586, Rollout - 636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IS – PRTC Fully built-up inspection done built up under process with inspection &amp; MSRTC – Structure inspection done but Fully Built-up inspection pending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Export Demand – 431, Delivery Outlook – 200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Audi buses-Demand zero, Outlook-zero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3388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AD782B-F15F-C2A3-59D9-E250A5C87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989000"/>
              </p:ext>
            </p:extLst>
          </p:nvPr>
        </p:nvGraphicFramePr>
        <p:xfrm>
          <a:off x="2134832" y="110356"/>
          <a:ext cx="9958475" cy="5933732"/>
        </p:xfrm>
        <a:graphic>
          <a:graphicData uri="http://schemas.openxmlformats.org/drawingml/2006/table">
            <a:tbl>
              <a:tblPr/>
              <a:tblGrid>
                <a:gridCol w="741214">
                  <a:extLst>
                    <a:ext uri="{9D8B030D-6E8A-4147-A177-3AD203B41FA5}">
                      <a16:colId xmlns:a16="http://schemas.microsoft.com/office/drawing/2014/main" val="2902023857"/>
                    </a:ext>
                  </a:extLst>
                </a:gridCol>
                <a:gridCol w="772852">
                  <a:extLst>
                    <a:ext uri="{9D8B030D-6E8A-4147-A177-3AD203B41FA5}">
                      <a16:colId xmlns:a16="http://schemas.microsoft.com/office/drawing/2014/main" val="2088806482"/>
                    </a:ext>
                  </a:extLst>
                </a:gridCol>
                <a:gridCol w="772852">
                  <a:extLst>
                    <a:ext uri="{9D8B030D-6E8A-4147-A177-3AD203B41FA5}">
                      <a16:colId xmlns:a16="http://schemas.microsoft.com/office/drawing/2014/main" val="413998216"/>
                    </a:ext>
                  </a:extLst>
                </a:gridCol>
                <a:gridCol w="503251">
                  <a:extLst>
                    <a:ext uri="{9D8B030D-6E8A-4147-A177-3AD203B41FA5}">
                      <a16:colId xmlns:a16="http://schemas.microsoft.com/office/drawing/2014/main" val="2081133741"/>
                    </a:ext>
                  </a:extLst>
                </a:gridCol>
                <a:gridCol w="527218">
                  <a:extLst>
                    <a:ext uri="{9D8B030D-6E8A-4147-A177-3AD203B41FA5}">
                      <a16:colId xmlns:a16="http://schemas.microsoft.com/office/drawing/2014/main" val="3425524731"/>
                    </a:ext>
                  </a:extLst>
                </a:gridCol>
                <a:gridCol w="455323">
                  <a:extLst>
                    <a:ext uri="{9D8B030D-6E8A-4147-A177-3AD203B41FA5}">
                      <a16:colId xmlns:a16="http://schemas.microsoft.com/office/drawing/2014/main" val="3719339799"/>
                    </a:ext>
                  </a:extLst>
                </a:gridCol>
                <a:gridCol w="647037">
                  <a:extLst>
                    <a:ext uri="{9D8B030D-6E8A-4147-A177-3AD203B41FA5}">
                      <a16:colId xmlns:a16="http://schemas.microsoft.com/office/drawing/2014/main" val="2563238748"/>
                    </a:ext>
                  </a:extLst>
                </a:gridCol>
                <a:gridCol w="934612">
                  <a:extLst>
                    <a:ext uri="{9D8B030D-6E8A-4147-A177-3AD203B41FA5}">
                      <a16:colId xmlns:a16="http://schemas.microsoft.com/office/drawing/2014/main" val="479684695"/>
                    </a:ext>
                  </a:extLst>
                </a:gridCol>
                <a:gridCol w="4604116">
                  <a:extLst>
                    <a:ext uri="{9D8B030D-6E8A-4147-A177-3AD203B41FA5}">
                      <a16:colId xmlns:a16="http://schemas.microsoft.com/office/drawing/2014/main" val="318701895"/>
                    </a:ext>
                  </a:extLst>
                </a:gridCol>
              </a:tblGrid>
              <a:tr h="79282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Supply Plan for Sept 26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787799"/>
                  </a:ext>
                </a:extLst>
              </a:tr>
              <a:tr h="155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Rollout Plan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S&amp;OP I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Likely Opn 1st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Fresh Rollout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Shortfall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Remark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658816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L1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L3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Total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707363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Pvt*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216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95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127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222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 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556996"/>
                  </a:ext>
                </a:extLst>
              </a:tr>
              <a:tr h="155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IS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246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125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127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(115)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98- MSRTC Buses rollout subject to built up inspoection clearance.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17- 2112 M Fixture issue to be explore with EBB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650139"/>
                  </a:ext>
                </a:extLst>
              </a:tr>
              <a:tr h="155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IB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231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28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68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54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(29)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20- 20.15 N E4 Chassis Not Committed 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9- OMAN Buses not Planned due to 12 types NCR are still openined 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769175"/>
                  </a:ext>
                </a:extLst>
              </a:tr>
              <a:tr h="155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IB STS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158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51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81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(75)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10- 20.15 N STS Chassis not Committed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50- 3008 STS buses  Proto built up after NCR closure on STS School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88810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IB Face Lift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41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(29)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Face lift NCR Closer as par with E5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565471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 12M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263118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 Tarmac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(5)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 Tarmac Buses 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478980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 9M CESL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(90)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562936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NPI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139326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Total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1073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105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252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248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136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636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(332)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845003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409066"/>
                  </a:ext>
                </a:extLst>
              </a:tr>
              <a:tr h="155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EDD Plan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S&amp;OP I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Likely Opn 1st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EDD Plan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Shortfall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Remark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521790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L1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L3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Total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195436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Pvt*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216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95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132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227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 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612474"/>
                  </a:ext>
                </a:extLst>
              </a:tr>
              <a:tr h="155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IS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246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125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129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(117)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100- MSRTC Buses rollout subject to built up inspoection clearance.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17- 2112 M Fixture issue to be explore with EBB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503435"/>
                  </a:ext>
                </a:extLst>
              </a:tr>
              <a:tr h="2323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IB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231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33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78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59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170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(61)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20- 20.15 N E4 Chassis Not Committed 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9- OMAN Buses not Planned due to 12 types NCR are still openined 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25- Rollout Planned , Ok tag by Oct W2/3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255078"/>
                  </a:ext>
                </a:extLst>
              </a:tr>
              <a:tr h="2323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IB STS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158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(128)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10- 20.15 N STS Chassis not Committed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67- 3008 STS buses  Proto built up after NCR closure on STS School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51- STS 3008 H buses rollout planned, ok tag by Oct W2/3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750657"/>
                  </a:ext>
                </a:extLst>
              </a:tr>
              <a:tr h="155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IB Face Lift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(70)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41- Rolled out Planned ok tag by Oct W2/3 due to NCR still open &amp; Duct in shortage.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29- Rollout on hold due to NCR closure pending as per E5.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66256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 12M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(2)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Rollout Planned, ok tag by Oct W1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078585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 Tarmac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(6)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 Tarmac Buses 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432317"/>
                  </a:ext>
                </a:extLst>
              </a:tr>
              <a:tr h="155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 9M CESL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(110)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20- Planned for Rollout, Ok tag by Oct W1.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90- Material will be available by Oct 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47239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NPI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(4)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202798"/>
                  </a:ext>
                </a:extLst>
              </a:tr>
              <a:tr h="79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Total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1073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253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214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119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CC"/>
                          </a:solidFill>
                          <a:effectLst/>
                          <a:latin typeface="Aptos" panose="020B0004020202020204" pitchFamily="34" charset="0"/>
                        </a:rPr>
                        <a:t>586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(487)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5482" marR="5482" marT="5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811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57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12E6A-EEEB-5E39-E5B2-67C5BA99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C555A-546E-0DEA-6BD2-93A0E94F1D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25000" lnSpcReduction="20000"/>
          </a:bodyPr>
          <a:lstStyle/>
          <a:p>
            <a:endParaRPr lang="en-IN"/>
          </a:p>
        </p:txBody>
      </p:sp>
      <p:sp>
        <p:nvSpPr>
          <p:cNvPr id="145" name="Footer Placeholder 144">
            <a:extLst>
              <a:ext uri="{FF2B5EF4-FFF2-40B4-BE49-F238E27FC236}">
                <a16:creationId xmlns:a16="http://schemas.microsoft.com/office/drawing/2014/main" id="{D2573B54-D284-B68D-4EF3-0209793A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Operations| Production Planning update 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F93E5-F80C-6216-EA01-BCB0BAA93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87" y="566167"/>
            <a:ext cx="10961914" cy="5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097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490E2-AD10-FB8D-3D64-5D7789350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A75F2-B7F8-DD4C-D141-83C752AD59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25000" lnSpcReduction="20000"/>
          </a:bodyPr>
          <a:lstStyle/>
          <a:p>
            <a:endParaRPr lang="en-IN"/>
          </a:p>
        </p:txBody>
      </p:sp>
      <p:sp>
        <p:nvSpPr>
          <p:cNvPr id="145" name="Footer Placeholder 144">
            <a:extLst>
              <a:ext uri="{FF2B5EF4-FFF2-40B4-BE49-F238E27FC236}">
                <a16:creationId xmlns:a16="http://schemas.microsoft.com/office/drawing/2014/main" id="{3870B9FE-13B9-1912-9227-AA10F3AF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Operations| Production Planning update </a:t>
            </a:r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D2B3BB-0B60-D9CC-5257-C6E80A998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39" y="729343"/>
            <a:ext cx="10852604" cy="53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20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1200" y="118819"/>
            <a:ext cx="9263743" cy="5232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Imports Status – WK2636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BD7F18-1C9D-3EE5-8ECD-3A0E43F601C9}"/>
              </a:ext>
            </a:extLst>
          </p:cNvPr>
          <p:cNvSpPr/>
          <p:nvPr/>
        </p:nvSpPr>
        <p:spPr>
          <a:xfrm>
            <a:off x="290969" y="3105836"/>
            <a:ext cx="11348804" cy="24314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Under 30 Days Parts Update: </a:t>
            </a:r>
          </a:p>
          <a:p>
            <a:pPr>
              <a:defRPr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Sanden Thailand – PN IH000951 AC Compressor: Aug Production covered, Short for Aftermarket as their demand has been increased in June-Jul (By 150 Nos). 200 SEA ETA 03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Sep+ 200 ETA 20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Sep+ 200 ETA 30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Sep.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dirty="0">
              <a:solidFill>
                <a:srgbClr val="002060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dirty="0">
              <a:solidFill>
                <a:srgbClr val="002060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Critical Parts:</a:t>
            </a:r>
          </a:p>
          <a:p>
            <a:pPr lvl="0"/>
            <a:r>
              <a:rPr lang="en-US" sz="1400" dirty="0">
                <a:latin typeface="Trebuchet MS" panose="020B0603020202020204" pitchFamily="34" charset="0"/>
              </a:rPr>
              <a:t>1)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MITSUBISHI EUROPE – PN ID339812 EGR Valve E694: Current Stock 322 Covered next two Month as per Forecast, However this forecast always increased. Hence Sensing Risk for Oct production, next pickup from Supplier Expected in Mid of Nov.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TMBP –  PN 82626303 Pedal Arm: Current Stock 139 Covered till 30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Sep. Part under localization, need support from resp. department.(Import Supplier Denied for Supply)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C29490-6018-2998-85E8-0CEC577F8EC2}"/>
              </a:ext>
            </a:extLst>
          </p:cNvPr>
          <p:cNvGraphicFramePr>
            <a:graphicFrameLocks noGrp="1"/>
          </p:cNvGraphicFramePr>
          <p:nvPr/>
        </p:nvGraphicFramePr>
        <p:xfrm>
          <a:off x="228599" y="739209"/>
          <a:ext cx="11495316" cy="2123736"/>
        </p:xfrm>
        <a:graphic>
          <a:graphicData uri="http://schemas.openxmlformats.org/drawingml/2006/table">
            <a:tbl>
              <a:tblPr/>
              <a:tblGrid>
                <a:gridCol w="2427581">
                  <a:extLst>
                    <a:ext uri="{9D8B030D-6E8A-4147-A177-3AD203B41FA5}">
                      <a16:colId xmlns:a16="http://schemas.microsoft.com/office/drawing/2014/main" val="4181148446"/>
                    </a:ext>
                  </a:extLst>
                </a:gridCol>
                <a:gridCol w="1356590">
                  <a:extLst>
                    <a:ext uri="{9D8B030D-6E8A-4147-A177-3AD203B41FA5}">
                      <a16:colId xmlns:a16="http://schemas.microsoft.com/office/drawing/2014/main" val="3359216247"/>
                    </a:ext>
                  </a:extLst>
                </a:gridCol>
                <a:gridCol w="1160242">
                  <a:extLst>
                    <a:ext uri="{9D8B030D-6E8A-4147-A177-3AD203B41FA5}">
                      <a16:colId xmlns:a16="http://schemas.microsoft.com/office/drawing/2014/main" val="3597547976"/>
                    </a:ext>
                  </a:extLst>
                </a:gridCol>
                <a:gridCol w="981743">
                  <a:extLst>
                    <a:ext uri="{9D8B030D-6E8A-4147-A177-3AD203B41FA5}">
                      <a16:colId xmlns:a16="http://schemas.microsoft.com/office/drawing/2014/main" val="2962480752"/>
                    </a:ext>
                  </a:extLst>
                </a:gridCol>
                <a:gridCol w="981743">
                  <a:extLst>
                    <a:ext uri="{9D8B030D-6E8A-4147-A177-3AD203B41FA5}">
                      <a16:colId xmlns:a16="http://schemas.microsoft.com/office/drawing/2014/main" val="3350956596"/>
                    </a:ext>
                  </a:extLst>
                </a:gridCol>
                <a:gridCol w="981743">
                  <a:extLst>
                    <a:ext uri="{9D8B030D-6E8A-4147-A177-3AD203B41FA5}">
                      <a16:colId xmlns:a16="http://schemas.microsoft.com/office/drawing/2014/main" val="1885610622"/>
                    </a:ext>
                  </a:extLst>
                </a:gridCol>
                <a:gridCol w="981743">
                  <a:extLst>
                    <a:ext uri="{9D8B030D-6E8A-4147-A177-3AD203B41FA5}">
                      <a16:colId xmlns:a16="http://schemas.microsoft.com/office/drawing/2014/main" val="2571826756"/>
                    </a:ext>
                  </a:extLst>
                </a:gridCol>
                <a:gridCol w="838944">
                  <a:extLst>
                    <a:ext uri="{9D8B030D-6E8A-4147-A177-3AD203B41FA5}">
                      <a16:colId xmlns:a16="http://schemas.microsoft.com/office/drawing/2014/main" val="2049568158"/>
                    </a:ext>
                  </a:extLst>
                </a:gridCol>
                <a:gridCol w="1784987">
                  <a:extLst>
                    <a:ext uri="{9D8B030D-6E8A-4147-A177-3AD203B41FA5}">
                      <a16:colId xmlns:a16="http://schemas.microsoft.com/office/drawing/2014/main" val="462465090"/>
                    </a:ext>
                  </a:extLst>
                </a:gridCol>
              </a:tblGrid>
              <a:tr h="265467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Import Summary as on 31.08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Part Critical in 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549124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Import Part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Total Parts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90 Above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60-90 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45-60 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30-45 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15-30 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0-15 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Remarks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20434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REGULAR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11574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PRO8000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664418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PRO8055/6055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77790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PRO8055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12447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Total Parts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220301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Cumulative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212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403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ABCF33B-C95D-0DEF-4A5C-AE8538EB79B1}"/>
              </a:ext>
            </a:extLst>
          </p:cNvPr>
          <p:cNvSpPr/>
          <p:nvPr/>
        </p:nvSpPr>
        <p:spPr>
          <a:xfrm>
            <a:off x="1981200" y="118819"/>
            <a:ext cx="9263743" cy="5232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Calibri" panose="020F0502020204030204" pitchFamily="34" charset="0"/>
              </a:rPr>
              <a:t>Parts Coverage Details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9AF018-DEF7-AB82-DDFD-CE221745B941}"/>
              </a:ext>
            </a:extLst>
          </p:cNvPr>
          <p:cNvGraphicFramePr>
            <a:graphicFrameLocks noGrp="1"/>
          </p:cNvGraphicFramePr>
          <p:nvPr/>
        </p:nvGraphicFramePr>
        <p:xfrm>
          <a:off x="4032250" y="6106885"/>
          <a:ext cx="4127500" cy="184150"/>
        </p:xfrm>
        <a:graphic>
          <a:graphicData uri="http://schemas.openxmlformats.org/drawingml/2006/table">
            <a:tbl>
              <a:tblPr/>
              <a:tblGrid>
                <a:gridCol w="1054100">
                  <a:extLst>
                    <a:ext uri="{9D8B030D-6E8A-4147-A177-3AD203B41FA5}">
                      <a16:colId xmlns:a16="http://schemas.microsoft.com/office/drawing/2014/main" val="21574286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65225662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406328059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59576958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PRO8055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PRO8000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PRO8055/6055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Regular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17957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34A8A5-06E9-A2E0-B6E4-4FFF53F5DCC0}"/>
              </a:ext>
            </a:extLst>
          </p:cNvPr>
          <p:cNvGraphicFramePr>
            <a:graphicFrameLocks noGrp="1"/>
          </p:cNvGraphicFramePr>
          <p:nvPr/>
        </p:nvGraphicFramePr>
        <p:xfrm>
          <a:off x="179882" y="749509"/>
          <a:ext cx="11902189" cy="5216578"/>
        </p:xfrm>
        <a:graphic>
          <a:graphicData uri="http://schemas.openxmlformats.org/drawingml/2006/table">
            <a:tbl>
              <a:tblPr/>
              <a:tblGrid>
                <a:gridCol w="350981">
                  <a:extLst>
                    <a:ext uri="{9D8B030D-6E8A-4147-A177-3AD203B41FA5}">
                      <a16:colId xmlns:a16="http://schemas.microsoft.com/office/drawing/2014/main" val="3855041280"/>
                    </a:ext>
                  </a:extLst>
                </a:gridCol>
                <a:gridCol w="908586">
                  <a:extLst>
                    <a:ext uri="{9D8B030D-6E8A-4147-A177-3AD203B41FA5}">
                      <a16:colId xmlns:a16="http://schemas.microsoft.com/office/drawing/2014/main" val="1426306115"/>
                    </a:ext>
                  </a:extLst>
                </a:gridCol>
                <a:gridCol w="772722">
                  <a:extLst>
                    <a:ext uri="{9D8B030D-6E8A-4147-A177-3AD203B41FA5}">
                      <a16:colId xmlns:a16="http://schemas.microsoft.com/office/drawing/2014/main" val="390614130"/>
                    </a:ext>
                  </a:extLst>
                </a:gridCol>
                <a:gridCol w="1109550">
                  <a:extLst>
                    <a:ext uri="{9D8B030D-6E8A-4147-A177-3AD203B41FA5}">
                      <a16:colId xmlns:a16="http://schemas.microsoft.com/office/drawing/2014/main" val="3278600577"/>
                    </a:ext>
                  </a:extLst>
                </a:gridCol>
                <a:gridCol w="622706">
                  <a:extLst>
                    <a:ext uri="{9D8B030D-6E8A-4147-A177-3AD203B41FA5}">
                      <a16:colId xmlns:a16="http://schemas.microsoft.com/office/drawing/2014/main" val="175933777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4187499952"/>
                    </a:ext>
                  </a:extLst>
                </a:gridCol>
                <a:gridCol w="452878">
                  <a:extLst>
                    <a:ext uri="{9D8B030D-6E8A-4147-A177-3AD203B41FA5}">
                      <a16:colId xmlns:a16="http://schemas.microsoft.com/office/drawing/2014/main" val="3198622858"/>
                    </a:ext>
                  </a:extLst>
                </a:gridCol>
                <a:gridCol w="452878">
                  <a:extLst>
                    <a:ext uri="{9D8B030D-6E8A-4147-A177-3AD203B41FA5}">
                      <a16:colId xmlns:a16="http://schemas.microsoft.com/office/drawing/2014/main" val="4245282335"/>
                    </a:ext>
                  </a:extLst>
                </a:gridCol>
                <a:gridCol w="452878">
                  <a:extLst>
                    <a:ext uri="{9D8B030D-6E8A-4147-A177-3AD203B41FA5}">
                      <a16:colId xmlns:a16="http://schemas.microsoft.com/office/drawing/2014/main" val="3782660463"/>
                    </a:ext>
                  </a:extLst>
                </a:gridCol>
                <a:gridCol w="452878">
                  <a:extLst>
                    <a:ext uri="{9D8B030D-6E8A-4147-A177-3AD203B41FA5}">
                      <a16:colId xmlns:a16="http://schemas.microsoft.com/office/drawing/2014/main" val="622409667"/>
                    </a:ext>
                  </a:extLst>
                </a:gridCol>
                <a:gridCol w="384947">
                  <a:extLst>
                    <a:ext uri="{9D8B030D-6E8A-4147-A177-3AD203B41FA5}">
                      <a16:colId xmlns:a16="http://schemas.microsoft.com/office/drawing/2014/main" val="2398089859"/>
                    </a:ext>
                  </a:extLst>
                </a:gridCol>
                <a:gridCol w="534961">
                  <a:extLst>
                    <a:ext uri="{9D8B030D-6E8A-4147-A177-3AD203B41FA5}">
                      <a16:colId xmlns:a16="http://schemas.microsoft.com/office/drawing/2014/main" val="3367567767"/>
                    </a:ext>
                  </a:extLst>
                </a:gridCol>
                <a:gridCol w="566097">
                  <a:extLst>
                    <a:ext uri="{9D8B030D-6E8A-4147-A177-3AD203B41FA5}">
                      <a16:colId xmlns:a16="http://schemas.microsoft.com/office/drawing/2014/main" val="3987562586"/>
                    </a:ext>
                  </a:extLst>
                </a:gridCol>
                <a:gridCol w="1743578">
                  <a:extLst>
                    <a:ext uri="{9D8B030D-6E8A-4147-A177-3AD203B41FA5}">
                      <a16:colId xmlns:a16="http://schemas.microsoft.com/office/drawing/2014/main" val="4154706357"/>
                    </a:ext>
                  </a:extLst>
                </a:gridCol>
                <a:gridCol w="1655833">
                  <a:extLst>
                    <a:ext uri="{9D8B030D-6E8A-4147-A177-3AD203B41FA5}">
                      <a16:colId xmlns:a16="http://schemas.microsoft.com/office/drawing/2014/main" val="745718297"/>
                    </a:ext>
                  </a:extLst>
                </a:gridCol>
                <a:gridCol w="908586">
                  <a:extLst>
                    <a:ext uri="{9D8B030D-6E8A-4147-A177-3AD203B41FA5}">
                      <a16:colId xmlns:a16="http://schemas.microsoft.com/office/drawing/2014/main" val="853412208"/>
                    </a:ext>
                  </a:extLst>
                </a:gridCol>
              </a:tblGrid>
              <a:tr h="235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11" marR="7511" marT="75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11" marR="7511" marT="75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11" marR="7511" marT="75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11" marR="7511" marT="75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11" marR="7511" marT="75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Days Req</a:t>
                      </a:r>
                    </a:p>
                  </a:txBody>
                  <a:tcPr marL="7511" marR="7511" marT="75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30-60 Days Req</a:t>
                      </a:r>
                    </a:p>
                  </a:txBody>
                  <a:tcPr marL="7511" marR="7511" marT="75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511" marR="7511" marT="75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11" marR="7511" marT="75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11" marR="7511" marT="75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11" marR="7511" marT="75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11" marR="7511" marT="75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11" marR="7511" marT="75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333763"/>
                  </a:ext>
                </a:extLst>
              </a:tr>
              <a:tr h="717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S.NO. </a:t>
                      </a:r>
                    </a:p>
                  </a:txBody>
                  <a:tcPr marL="7511" marR="7511" marT="75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Name</a:t>
                      </a:r>
                    </a:p>
                  </a:txBody>
                  <a:tcPr marL="7511" marR="7511" marT="75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 NO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 DESCRIPTION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BOM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Prod.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VEPDC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VEPDC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31.08 stock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 for 60 days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 Coverage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Mitigation Plan</a:t>
                      </a:r>
                    </a:p>
                  </a:txBody>
                  <a:tcPr marL="7511" marR="7511" marT="75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Coverage After Mitigation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Target &gt;90 days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303866"/>
                  </a:ext>
                </a:extLst>
              </a:tr>
              <a:tr h="6731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SANDEN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IH000951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 COMPRESSOR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-434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15-30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 ETA 03.09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 ETA 20.09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 ETA 30.09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200 &gt;&gt; upto 14.09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200 &gt;&gt; up to 04.10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200&gt;&gt; up to 60 days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 WK 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33445"/>
                  </a:ext>
                </a:extLst>
              </a:tr>
              <a:tr h="448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VITESCO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IE302842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CONTROL UNIT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-137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15-30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 pickup 07.09 ETA 15.09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 ETA 20.09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96 &gt;&gt; upto 18.10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192 &gt;&gt; above 60 days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 WK 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065902"/>
                  </a:ext>
                </a:extLst>
              </a:tr>
              <a:tr h="448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Yazaki Europe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IE302849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VECU 12V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15-30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 pickup 03.09 ETA 20.09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ETA 25.10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64 &gt;&gt; up to 30.10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32 &gt;&gt; above 60 days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 WK 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345772"/>
                  </a:ext>
                </a:extLst>
              </a:tr>
              <a:tr h="224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 ASIA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ME074696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SEAL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4752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11406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4124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11406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31687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21750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-9937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30-45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18000 ETA 20.09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18000 &gt;&gt; upto 60 Days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 WK 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61584"/>
                  </a:ext>
                </a:extLst>
              </a:tr>
              <a:tr h="448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JTEKT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ME013384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OIL SEAL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4956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5120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5194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5120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20390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11965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-8425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30-45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3840 pickup 10.09 ETA 20.09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5760 pickup 12.09 ETA 12.10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3840 &gt;&gt; upto 16.10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5760 &gt;&gt; above 60 Days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 WK 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281925"/>
                  </a:ext>
                </a:extLst>
              </a:tr>
              <a:tr h="6731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Yazaki Europe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IE302735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VECU 24VDC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45-60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 pickup 03.09 ETA 20.09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 ETA 25.10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 ETA 15.11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110 &gt;&gt; up to 60 Days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110 &gt;&gt; above 90 Days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64 &gt;&gt; above 90 days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 WK 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966347"/>
                  </a:ext>
                </a:extLst>
              </a:tr>
              <a:tr h="224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TMBP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82626303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PEDAL ARM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30-45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TMBP denied to Supply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724117"/>
                  </a:ext>
                </a:extLst>
              </a:tr>
              <a:tr h="224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TMBP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82505814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WIPER ARM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-27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45-60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1121 pickup 16.09 ETA 25.09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1121 above 90 days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 WK 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925401"/>
                  </a:ext>
                </a:extLst>
              </a:tr>
              <a:tr h="448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Norgren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ID802327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SOLENOID VALVE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-36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30-45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ETA 04.09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 ETA 25.10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120 &gt;&gt; up to 60 Days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108 &gt;&gt; up to 90 Days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 WK 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197736"/>
                  </a:ext>
                </a:extLst>
              </a:tr>
              <a:tr h="224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Tianjin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IA800089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BRACKET KIT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30-45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ETA 04.09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30 &gt;&gt; upto 90 Days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 WK 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27080"/>
                  </a:ext>
                </a:extLst>
              </a:tr>
              <a:tr h="224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Tianjin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IA800099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BRACKET KIT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30-45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ETA 04.09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30 &gt;&gt; upto 90 Days 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 WK 4</a:t>
                      </a:r>
                    </a:p>
                  </a:txBody>
                  <a:tcPr marL="7511" marR="7511" marT="75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261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3454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21F2-CDDB-AD7D-7763-133A5D198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C0EA9A-054A-D188-CB60-F3B34ED26B08}"/>
              </a:ext>
            </a:extLst>
          </p:cNvPr>
          <p:cNvSpPr/>
          <p:nvPr/>
        </p:nvSpPr>
        <p:spPr>
          <a:xfrm>
            <a:off x="3367039" y="2874220"/>
            <a:ext cx="50222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48338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9DE73-53B9-A6A3-B005-AA55F67B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0;p2">
            <a:extLst>
              <a:ext uri="{FF2B5EF4-FFF2-40B4-BE49-F238E27FC236}">
                <a16:creationId xmlns:a16="http://schemas.microsoft.com/office/drawing/2014/main" id="{566686B6-F959-16FF-E982-4570FA16F962}"/>
              </a:ext>
            </a:extLst>
          </p:cNvPr>
          <p:cNvSpPr txBox="1">
            <a:spLocks/>
          </p:cNvSpPr>
          <p:nvPr/>
        </p:nvSpPr>
        <p:spPr>
          <a:xfrm>
            <a:off x="1974361" y="182695"/>
            <a:ext cx="9981084" cy="449370"/>
          </a:xfrm>
          <a:prstGeom prst="rect">
            <a:avLst/>
          </a:prstGeom>
        </p:spPr>
        <p:txBody>
          <a:bodyPr vert="horz" lIns="121920" tIns="60960" rIns="121920" bIns="60960" rtlCol="0" anchor="t" anchorCtr="0">
            <a:noAutofit/>
          </a:bodyPr>
          <a:lstStyle>
            <a:defPPr>
              <a:defRPr lang="en-US"/>
            </a:defPPr>
            <a:lvl1pPr marR="0" lvl="0" indent="0" defTabSz="914377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rebuchet MS" panose="020B0603020202020204" pitchFamily="34" charset="0"/>
                <a:ea typeface="Segoe UI Symbol" panose="020B0502040204020203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Segoe UI Symbol" panose="020B0502040204020203" pitchFamily="34" charset="0"/>
                <a:cs typeface="+mn-cs"/>
              </a:rPr>
              <a:t>Shift Planning – FY’27  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Segoe UI Symbol" panose="020B0502040204020203" pitchFamily="34" charset="0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9D632D-94D0-BCA4-D2A8-05BFD17F028C}"/>
              </a:ext>
            </a:extLst>
          </p:cNvPr>
          <p:cNvGraphicFramePr>
            <a:graphicFrameLocks noGrp="1"/>
          </p:cNvGraphicFramePr>
          <p:nvPr/>
        </p:nvGraphicFramePr>
        <p:xfrm>
          <a:off x="430195" y="793686"/>
          <a:ext cx="11525250" cy="5092763"/>
        </p:xfrm>
        <a:graphic>
          <a:graphicData uri="http://schemas.openxmlformats.org/drawingml/2006/table">
            <a:tbl>
              <a:tblPr/>
              <a:tblGrid>
                <a:gridCol w="1629474">
                  <a:extLst>
                    <a:ext uri="{9D8B030D-6E8A-4147-A177-3AD203B41FA5}">
                      <a16:colId xmlns:a16="http://schemas.microsoft.com/office/drawing/2014/main" val="1588038297"/>
                    </a:ext>
                  </a:extLst>
                </a:gridCol>
                <a:gridCol w="1629474">
                  <a:extLst>
                    <a:ext uri="{9D8B030D-6E8A-4147-A177-3AD203B41FA5}">
                      <a16:colId xmlns:a16="http://schemas.microsoft.com/office/drawing/2014/main" val="3477187072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1944292025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1410792267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619315592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3266878137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2945085505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3642903726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1640085850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1666679356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4158140093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3157389250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4201751705"/>
                    </a:ext>
                  </a:extLst>
                </a:gridCol>
                <a:gridCol w="666061">
                  <a:extLst>
                    <a:ext uri="{9D8B030D-6E8A-4147-A177-3AD203B41FA5}">
                      <a16:colId xmlns:a16="http://schemas.microsoft.com/office/drawing/2014/main" val="3720721866"/>
                    </a:ext>
                  </a:extLst>
                </a:gridCol>
                <a:gridCol w="666061">
                  <a:extLst>
                    <a:ext uri="{9D8B030D-6E8A-4147-A177-3AD203B41FA5}">
                      <a16:colId xmlns:a16="http://schemas.microsoft.com/office/drawing/2014/main" val="3785886713"/>
                    </a:ext>
                  </a:extLst>
                </a:gridCol>
              </a:tblGrid>
              <a:tr h="204281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 Volumes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Jul-26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Aug-26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Sep-26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FY'27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862610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LMD (Bhopal)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49053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338810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HD (Pithampur)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1466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20501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777214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MHD (Pithampur)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2293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31116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925903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7113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7579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7810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7950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7509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7691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8085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7790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8799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9584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9782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10978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100670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96182"/>
                  </a:ext>
                </a:extLst>
              </a:tr>
              <a:tr h="119164">
                <a:tc gridSpan="15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947001"/>
                  </a:ext>
                </a:extLst>
              </a:tr>
              <a:tr h="1872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Working Days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85683"/>
                  </a:ext>
                </a:extLst>
              </a:tr>
              <a:tr h="70846">
                <a:tc gridSpan="1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477253"/>
                  </a:ext>
                </a:extLst>
              </a:tr>
              <a:tr h="187258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Installed Capacity / Shift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Line (Bhopal)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412230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MHD Line (Pithampur)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729283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Line (Pithampur)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051641"/>
                  </a:ext>
                </a:extLst>
              </a:tr>
              <a:tr h="85117">
                <a:tc gridSpan="15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90139"/>
                  </a:ext>
                </a:extLst>
              </a:tr>
              <a:tr h="187258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Capacity Utilization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Line (Bhopal)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207777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MHD Line (Pithampur)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796253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Line (Pithampur)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71478"/>
                  </a:ext>
                </a:extLst>
              </a:tr>
              <a:tr h="68094">
                <a:tc gridSpan="1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329236"/>
                  </a:ext>
                </a:extLst>
              </a:tr>
              <a:tr h="272375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Shift Plan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Line (Bhopal)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571873"/>
                  </a:ext>
                </a:extLst>
              </a:tr>
              <a:tr h="27237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MHD Line (Pithampur)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743170"/>
                  </a:ext>
                </a:extLst>
              </a:tr>
              <a:tr h="27237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Line (Pithampur)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873350"/>
                  </a:ext>
                </a:extLst>
              </a:tr>
              <a:tr h="68094">
                <a:tc grid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797052"/>
                  </a:ext>
                </a:extLst>
              </a:tr>
              <a:tr h="187258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Rollout Distribution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LMD Line (Bhopal)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3793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47858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37764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MHD Line (Pithampur)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096765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 Line (Pithampur)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369500"/>
                  </a:ext>
                </a:extLst>
              </a:tr>
              <a:tr h="187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7867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8893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8893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9235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8209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8551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8551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7525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9235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10739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10309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11168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109176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7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846829"/>
                  </a:ext>
                </a:extLst>
              </a:tr>
              <a:tr h="85117">
                <a:tc gridSpan="1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676672"/>
                  </a:ext>
                </a:extLst>
              </a:tr>
              <a:tr h="20428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Shortfall / </a:t>
                      </a:r>
                      <a:r>
                        <a:rPr lang="en-IN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Excess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754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1314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1083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1285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860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466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436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1155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527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286967"/>
                  </a:ext>
                </a:extLst>
              </a:tr>
              <a:tr h="187258">
                <a:tc gridSpan="15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3-Days Inventory considered in April' 2026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284159"/>
                  </a:ext>
                </a:extLst>
              </a:tr>
              <a:tr h="187258">
                <a:tc gridSpan="15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 2000 cabins will produce at Bhopal &amp; Pro 2000 cowls will produce at Pithampur (However, complete flexibility inbuilt at both the plants for Pro 2000 cabins &amp; cowls)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12881"/>
                  </a:ext>
                </a:extLst>
              </a:tr>
              <a:tr h="187258">
                <a:tc gridSpan="15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 balance &amp; optimize amongst MHD &amp; HD lines, Pro 3019 model is flexible 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3135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EE6070C-061E-5C04-A9F2-ACCDEAE69A5D}"/>
              </a:ext>
            </a:extLst>
          </p:cNvPr>
          <p:cNvSpPr txBox="1"/>
          <p:nvPr/>
        </p:nvSpPr>
        <p:spPr>
          <a:xfrm>
            <a:off x="7995414" y="344316"/>
            <a:ext cx="3788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Rollout &amp; Distribution Planning FY'27</a:t>
            </a:r>
          </a:p>
        </p:txBody>
      </p:sp>
    </p:spTree>
    <p:extLst>
      <p:ext uri="{BB962C8B-B14F-4D97-AF65-F5344CB8AC3E}">
        <p14:creationId xmlns:p14="http://schemas.microsoft.com/office/powerpoint/2010/main" val="74656294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ECV PPT Template" id="{E92694D2-51AB-E44B-9237-6A351F3C6267}" vid="{B3DCB7E7-21EE-564D-9AE5-C65F964855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5D1156AF89E94CB4E0E819A4FFFAAD" ma:contentTypeVersion="10" ma:contentTypeDescription="Create a new document." ma:contentTypeScope="" ma:versionID="61872c4fbe53fcdd153f909cd790dd28">
  <xsd:schema xmlns:xsd="http://www.w3.org/2001/XMLSchema" xmlns:xs="http://www.w3.org/2001/XMLSchema" xmlns:p="http://schemas.microsoft.com/office/2006/metadata/properties" xmlns:ns2="57566b0b-71de-458e-9f2e-9e8b3d616881" targetNamespace="http://schemas.microsoft.com/office/2006/metadata/properties" ma:root="true" ma:fieldsID="11e0f8d1eec925045bf0dcf8a49d40ae" ns2:_="">
    <xsd:import namespace="57566b0b-71de-458e-9f2e-9e8b3d6168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566b0b-71de-458e-9f2e-9e8b3d6168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e324c80-68f0-4eca-84bf-9f08e6056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566b0b-71de-458e-9f2e-9e8b3d6168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17B89BB-0986-4471-91DF-908A2E5E0063}"/>
</file>

<file path=customXml/itemProps2.xml><?xml version="1.0" encoding="utf-8"?>
<ds:datastoreItem xmlns:ds="http://schemas.openxmlformats.org/officeDocument/2006/customXml" ds:itemID="{B4788BAC-714E-4A83-86EE-0B01DDC09C72}"/>
</file>

<file path=customXml/itemProps3.xml><?xml version="1.0" encoding="utf-8"?>
<ds:datastoreItem xmlns:ds="http://schemas.openxmlformats.org/officeDocument/2006/customXml" ds:itemID="{A2DCC85C-374E-4545-AA0A-778BFF1505F5}"/>
</file>

<file path=docMetadata/LabelInfo.xml><?xml version="1.0" encoding="utf-8"?>
<clbl:labelList xmlns:clbl="http://schemas.microsoft.com/office/2020/mipLabelMetadata">
  <clbl:label id="{672c92bb-bb1e-4496-9f98-544dd509aafc}" enabled="1" method="Standard" siteId="{76a9a4c0-e34b-4ea8-b0b7-96fc4396f9e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17591</TotalTime>
  <Words>9364</Words>
  <Application>Microsoft Office PowerPoint</Application>
  <PresentationFormat>Widescreen</PresentationFormat>
  <Paragraphs>4774</Paragraphs>
  <Slides>35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Aptos</vt:lpstr>
      <vt:lpstr>Aptos Display</vt:lpstr>
      <vt:lpstr>Aptos Narrow</vt:lpstr>
      <vt:lpstr>Arial</vt:lpstr>
      <vt:lpstr>Calibri</vt:lpstr>
      <vt:lpstr>Calibri (Body)</vt:lpstr>
      <vt:lpstr>Calibri Light</vt:lpstr>
      <vt:lpstr>Symbol</vt:lpstr>
      <vt:lpstr>Times New Roman</vt:lpstr>
      <vt:lpstr>Trebuchet MS</vt:lpstr>
      <vt:lpstr>Wingdings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Santosh Pawar</dc:creator>
  <cp:lastModifiedBy>Ashish Manoharrao Wankhade</cp:lastModifiedBy>
  <cp:revision>1516</cp:revision>
  <cp:lastPrinted>2025-12-25T04:38:02Z</cp:lastPrinted>
  <dcterms:created xsi:type="dcterms:W3CDTF">2025-06-27T06:50:54Z</dcterms:created>
  <dcterms:modified xsi:type="dcterms:W3CDTF">2026-09-07T08:56:00Z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0x010100915D1156AF89E94CB4E0E819A4FFFAAD</vt:lpwstr>
  </property>
</Properties>
</file>